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5.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 name="PlaceHolder 1"/>
          <p:cNvSpPr>
            <a:spLocks noGrp="1"/>
          </p:cNvSpPr>
          <p:nvPr>
            <p:ph type="sldImg"/>
          </p:nvPr>
        </p:nvSpPr>
        <p:spPr>
          <a:xfrm>
            <a:off x="0" y="812520"/>
            <a:ext cx="0" cy="0"/>
          </a:xfrm>
          <a:prstGeom prst="rect">
            <a:avLst/>
          </a:prstGeom>
          <a:noFill/>
          <a:ln w="0">
            <a:noFill/>
          </a:ln>
        </p:spPr>
        <p:txBody>
          <a:bodyPr lIns="0" tIns="0" rIns="0" bIns="0" anchor="ctr">
            <a:noAutofit/>
          </a:bodyPr>
          <a:p>
            <a:r>
              <a:rPr lang="pt-PT" sz="1800" b="0" u="none" strike="noStrike">
                <a:solidFill>
                  <a:schemeClr val="dk1"/>
                </a:solidFill>
                <a:effectLst/>
                <a:uFillTx/>
                <a:latin typeface="Calibri"/>
              </a:rPr>
              <a:t>Clique para mover o diapositivo</a:t>
            </a:r>
            <a:endParaRPr lang="pt-PT" sz="1800" b="0" u="none" strike="noStrike">
              <a:solidFill>
                <a:schemeClr val="dk1"/>
              </a:solidFill>
              <a:effectLst/>
              <a:uFillTx/>
              <a:latin typeface="Calibri"/>
            </a:endParaRPr>
          </a:p>
        </p:txBody>
      </p:sp>
      <p:sp>
        <p:nvSpPr>
          <p:cNvPr id="1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pt-PT" sz="2000" b="0" u="none" strike="noStrike">
                <a:solidFill>
                  <a:srgbClr val="000000"/>
                </a:solidFill>
                <a:effectLst/>
                <a:uFillTx/>
                <a:latin typeface="Arial"/>
              </a:rPr>
              <a:t>Clique para editar o formato das notas</a:t>
            </a:r>
            <a:endParaRPr lang="pt-PT" sz="2000" b="0" u="none" strike="noStrike">
              <a:solidFill>
                <a:srgbClr val="000000"/>
              </a:solidFill>
              <a:effectLst/>
              <a:uFillTx/>
              <a:latin typeface="Arial"/>
            </a:endParaRPr>
          </a:p>
        </p:txBody>
      </p:sp>
      <p:sp>
        <p:nvSpPr>
          <p:cNvPr id="12"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pt-PT" sz="1400" b="0" u="none" strike="noStrike">
                <a:solidFill>
                  <a:srgbClr val="000000"/>
                </a:solidFill>
                <a:effectLst/>
                <a:uFillTx/>
                <a:latin typeface="Times New Roman"/>
              </a:rPr>
              <a:t>&lt;cabeçalho&gt;</a:t>
            </a:r>
            <a:endParaRPr lang="pt-PT" sz="1400" b="0" u="none" strike="noStrike">
              <a:solidFill>
                <a:srgbClr val="000000"/>
              </a:solidFill>
              <a:effectLst/>
              <a:uFillTx/>
              <a:latin typeface="Times New Roman"/>
            </a:endParaRPr>
          </a:p>
        </p:txBody>
      </p:sp>
      <p:sp>
        <p:nvSpPr>
          <p:cNvPr id="13" name="PlaceHolder 4"/>
          <p:cNvSpPr>
            <a:spLocks noGrp="1"/>
          </p:cNvSpPr>
          <p:nvPr>
            <p:ph type="dt" idx="2"/>
          </p:nvPr>
        </p:nvSpPr>
        <p:spPr>
          <a:xfrm>
            <a:off x="4278960" y="0"/>
            <a:ext cx="3280680" cy="534240"/>
          </a:xfrm>
          <a:prstGeom prst="rect">
            <a:avLst/>
          </a:prstGeom>
          <a:noFill/>
          <a:ln w="0">
            <a:noFill/>
          </a:ln>
        </p:spPr>
        <p:txBody>
          <a:bodyPr lIns="0" tIns="0" rIns="0" bIns="0" anchor="t">
            <a:noAutofit/>
          </a:bodyPr>
          <a:lstStyle>
            <a:lvl1pPr indent="0" algn="r">
              <a:buNone/>
              <a:defRPr lang="pt-PT" sz="1400" b="0" u="none" strike="noStrike">
                <a:solidFill>
                  <a:srgbClr val="000000"/>
                </a:solidFill>
                <a:effectLst/>
                <a:uFillTx/>
                <a:latin typeface="Times New Roman"/>
              </a:defRPr>
            </a:lvl1pPr>
          </a:lstStyle>
          <a:p>
            <a:pPr indent="0" algn="r">
              <a:buNone/>
            </a:pPr>
            <a:r>
              <a:rPr lang="pt-PT" sz="1400" b="0" u="none" strike="noStrike">
                <a:solidFill>
                  <a:srgbClr val="000000"/>
                </a:solidFill>
                <a:effectLst/>
                <a:uFillTx/>
                <a:latin typeface="Times New Roman"/>
              </a:rPr>
              <a:t>&lt;data/hora&gt;</a:t>
            </a:r>
            <a:endParaRPr lang="pt-PT" sz="1400" b="0" u="none" strike="noStrike">
              <a:solidFill>
                <a:srgbClr val="000000"/>
              </a:solidFill>
              <a:effectLst/>
              <a:uFillTx/>
              <a:latin typeface="Times New Roman"/>
            </a:endParaRPr>
          </a:p>
        </p:txBody>
      </p:sp>
      <p:sp>
        <p:nvSpPr>
          <p:cNvPr id="14" name="PlaceHolder 5"/>
          <p:cNvSpPr>
            <a:spLocks noGrp="1"/>
          </p:cNvSpPr>
          <p:nvPr>
            <p:ph type="ftr" idx="3"/>
          </p:nvPr>
        </p:nvSpPr>
        <p:spPr>
          <a:xfrm>
            <a:off x="0" y="10157400"/>
            <a:ext cx="3280680" cy="534240"/>
          </a:xfrm>
          <a:prstGeom prst="rect">
            <a:avLst/>
          </a:prstGeom>
          <a:noFill/>
          <a:ln w="0">
            <a:noFill/>
          </a:ln>
        </p:spPr>
        <p:txBody>
          <a:bodyPr lIns="0" tIns="0" rIns="0" bIns="0" anchor="b">
            <a:noAutofit/>
          </a:bodyPr>
          <a:lstStyle>
            <a:lvl1pPr indent="0" algn="l">
              <a:buNone/>
              <a:defRPr lang="pt-PT" sz="1400" b="0" u="none" strike="noStrike">
                <a:solidFill>
                  <a:srgbClr val="000000"/>
                </a:solidFill>
                <a:effectLst/>
                <a:uFillTx/>
                <a:latin typeface="Times New Roman"/>
              </a:defRPr>
            </a:lvl1pPr>
          </a:lstStyle>
          <a:p>
            <a:pPr indent="0" algn="l">
              <a:buNone/>
            </a:pPr>
            <a:r>
              <a:rPr lang="pt-PT" sz="1400" b="0" u="none" strike="noStrike">
                <a:solidFill>
                  <a:srgbClr val="000000"/>
                </a:solidFill>
                <a:effectLst/>
                <a:uFillTx/>
                <a:latin typeface="Times New Roman"/>
              </a:rPr>
              <a:t>&lt;rodapé&gt;</a:t>
            </a:r>
            <a:endParaRPr lang="pt-PT" sz="1400" b="0" u="none" strike="noStrike">
              <a:solidFill>
                <a:srgbClr val="000000"/>
              </a:solidFill>
              <a:effectLst/>
              <a:uFillTx/>
              <a:latin typeface="Times New Roman"/>
            </a:endParaRPr>
          </a:p>
        </p:txBody>
      </p:sp>
      <p:sp>
        <p:nvSpPr>
          <p:cNvPr id="15" name="PlaceHolder 6"/>
          <p:cNvSpPr>
            <a:spLocks noGrp="1"/>
          </p:cNvSpPr>
          <p:nvPr>
            <p:ph type="sldNum" idx="4"/>
          </p:nvPr>
        </p:nvSpPr>
        <p:spPr>
          <a:xfrm>
            <a:off x="4278960" y="10157400"/>
            <a:ext cx="3280680" cy="534240"/>
          </a:xfrm>
          <a:prstGeom prst="rect">
            <a:avLst/>
          </a:prstGeom>
          <a:noFill/>
          <a:ln w="0">
            <a:noFill/>
          </a:ln>
        </p:spPr>
        <p:txBody>
          <a:bodyPr lIns="0" tIns="0" rIns="0" bIns="0" anchor="b">
            <a:noAutofit/>
          </a:bodyPr>
          <a:lstStyle>
            <a:lvl1pPr indent="0" algn="r">
              <a:buNone/>
              <a:defRPr lang="pt-PT" sz="1400" b="0" u="none" strike="noStrike">
                <a:solidFill>
                  <a:srgbClr val="000000"/>
                </a:solidFill>
                <a:effectLst/>
                <a:uFillTx/>
                <a:latin typeface="Times New Roman"/>
              </a:defRPr>
            </a:lvl1pPr>
          </a:lstStyle>
          <a:p>
            <a:pPr indent="0" algn="r">
              <a:buNone/>
            </a:pPr>
            <a:fld id="{DFBBC955-5A68-4086-BA71-C66E49D1EF50}" type="slidenum">
              <a:rPr lang="pt-PT" sz="1400" b="0" u="none" strike="noStrike">
                <a:solidFill>
                  <a:srgbClr val="000000"/>
                </a:solidFill>
                <a:effectLst/>
                <a:uFillTx/>
                <a:latin typeface="Times New Roman"/>
              </a:rPr>
              <a:t>&lt;número&gt;</a:t>
            </a:fld>
            <a:endParaRPr lang="pt-PT"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PlaceHolder 1"/>
          <p:cNvSpPr>
            <a:spLocks noGrp="1"/>
          </p:cNvSpPr>
          <p:nvPr>
            <p:ph type="sldImg"/>
          </p:nvPr>
        </p:nvSpPr>
        <p:spPr>
          <a:xfrm>
            <a:off x="685800" y="1143000"/>
            <a:ext cx="5486040" cy="3085920"/>
          </a:xfrm>
          <a:prstGeom prst="rect">
            <a:avLst/>
          </a:prstGeom>
          <a:ln w="0">
            <a:noFill/>
          </a:ln>
        </p:spPr>
      </p:sp>
      <p:sp>
        <p:nvSpPr>
          <p:cNvPr id="15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~30 s. Introduce yourself and the exercise.</a:t>
            </a:r>
            <a:endParaRPr lang="pt-PT"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"I built Calculate Profit: a small full-stack application where the Finance Department picks a shipment, enters its income and costs, and immediately sees whether it made a profit or a loss — and keeps a history of every calculation."</a:t>
            </a:r>
            <a:endParaRPr lang="pt-PT"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Stack in one breath: Angular 17 frontend, Spring Boot 3 REST API, H2 database.</a:t>
            </a:r>
            <a:endParaRPr lang="pt-PT" sz="2000" b="0" u="none" strike="noStrike">
              <a:solidFill>
                <a:srgbClr val="000000"/>
              </a:solidFill>
              <a:effectLst/>
              <a:uFillTx/>
              <a:latin typeface="Arial"/>
            </a:endParaRPr>
          </a:p>
        </p:txBody>
      </p:sp>
      <p:sp>
        <p:nvSpPr>
          <p:cNvPr id="151"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E0A7791-9CDF-432F-A7DD-463DAE374D0C}" type="slidenum">
              <a:rPr lang="en-US" sz="1200" b="0" u="none" strike="noStrike">
                <a:solidFill>
                  <a:schemeClr val="dk1"/>
                </a:solidFill>
                <a:effectLst/>
                <a:uFillTx/>
                <a:latin typeface="+mn-lt"/>
                <a:ea typeface="+mn-ea"/>
              </a:rPr>
              <a:t>&lt;número&gt;</a:t>
            </a:fld>
            <a:endParaRPr lang="pt-PT"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PlaceHolder 1"/>
          <p:cNvSpPr>
            <a:spLocks noGrp="1"/>
          </p:cNvSpPr>
          <p:nvPr>
            <p:ph type="sldImg"/>
          </p:nvPr>
        </p:nvSpPr>
        <p:spPr>
          <a:xfrm>
            <a:off x="685800" y="1143000"/>
            <a:ext cx="5486040" cy="3085920"/>
          </a:xfrm>
          <a:prstGeom prst="rect">
            <a:avLst/>
          </a:prstGeom>
          <a:ln w="0">
            <a:noFill/>
          </a:ln>
        </p:spPr>
      </p:sp>
      <p:sp>
        <p:nvSpPr>
          <p:cNvPr id="15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~30 s. Set the context before the solution.</a:t>
            </a:r>
            <a:endParaRPr lang="pt-PT"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users are the Finance Department — customers are not users of the app.</a:t>
            </a:r>
            <a:endParaRPr lang="pt-PT"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rule is simple: profit = income − (cost + additional cost); a negative number is a loss.</a:t>
            </a:r>
            <a:endParaRPr lang="pt-PT"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Scope I delivered: choose a shipment, enter values, calculate, and see the full history. Versions follow the ones pinned in the assessment (Java 17, Boot 3.1.5, Angular 17.1, Material 17.3, Bootstrap 5.3).</a:t>
            </a:r>
            <a:endParaRPr lang="pt-PT" sz="2000" b="0" u="none" strike="noStrike">
              <a:solidFill>
                <a:srgbClr val="000000"/>
              </a:solidFill>
              <a:effectLst/>
              <a:uFillTx/>
              <a:latin typeface="Arial"/>
            </a:endParaRPr>
          </a:p>
        </p:txBody>
      </p:sp>
      <p:sp>
        <p:nvSpPr>
          <p:cNvPr id="154"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AD26E7B-FB1B-4262-A13A-C46442BA6C76}" type="slidenum">
              <a:rPr lang="en-US" sz="1200" b="0" u="none" strike="noStrike">
                <a:solidFill>
                  <a:schemeClr val="dk1"/>
                </a:solidFill>
                <a:effectLst/>
                <a:uFillTx/>
                <a:latin typeface="+mn-lt"/>
                <a:ea typeface="+mn-ea"/>
              </a:rPr>
              <a:t>&lt;número&gt;</a:t>
            </a:fld>
            <a:endParaRPr lang="pt-PT"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PlaceHolder 1"/>
          <p:cNvSpPr>
            <a:spLocks noGrp="1"/>
          </p:cNvSpPr>
          <p:nvPr>
            <p:ph type="sldImg"/>
          </p:nvPr>
        </p:nvSpPr>
        <p:spPr>
          <a:xfrm>
            <a:off x="685800" y="1143000"/>
            <a:ext cx="5486040" cy="3085920"/>
          </a:xfrm>
          <a:prstGeom prst="rect">
            <a:avLst/>
          </a:prstGeom>
          <a:ln w="0">
            <a:noFill/>
          </a:ln>
        </p:spPr>
      </p:sp>
      <p:sp>
        <p:nvSpPr>
          <p:cNvPr id="15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~45 s. One actor: the Finance Department user (customers are not users).</a:t>
            </a:r>
            <a:endParaRPr lang="pt-PT"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Walk the five use cases top to bottom — this is everything the UI supports, nothing more.</a:t>
            </a:r>
            <a:endParaRPr lang="pt-PT"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Then the rules on the right: they are enforced on the client (form validators), on the server (Bean Validation) and in the database (CHECK constraints) — I come back to that on the design slide.</a:t>
            </a:r>
            <a:endParaRPr lang="pt-PT"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Mention the extra endpoint: find a shipment by code exists in the API and the Postman collection, but not in the UI.</a:t>
            </a:r>
            <a:endParaRPr lang="pt-PT" sz="2000" b="0" u="none" strike="noStrike">
              <a:solidFill>
                <a:srgbClr val="000000"/>
              </a:solidFill>
              <a:effectLst/>
              <a:uFillTx/>
              <a:latin typeface="Arial"/>
            </a:endParaRPr>
          </a:p>
        </p:txBody>
      </p:sp>
      <p:sp>
        <p:nvSpPr>
          <p:cNvPr id="157"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BBF0F7F-B488-444E-97D4-C6AB9D7A2B9B}" type="slidenum">
              <a:rPr lang="en-US" sz="1200" b="0" u="none" strike="noStrike">
                <a:solidFill>
                  <a:schemeClr val="dk1"/>
                </a:solidFill>
                <a:effectLst/>
                <a:uFillTx/>
                <a:latin typeface="+mn-lt"/>
                <a:ea typeface="+mn-ea"/>
              </a:rPr>
              <a:t>&lt;número&gt;</a:t>
            </a:fld>
            <a:endParaRPr lang="pt-PT"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PlaceHolder 1"/>
          <p:cNvSpPr>
            <a:spLocks noGrp="1"/>
          </p:cNvSpPr>
          <p:nvPr>
            <p:ph type="sldImg"/>
          </p:nvPr>
        </p:nvSpPr>
        <p:spPr>
          <a:xfrm>
            <a:off x="685800" y="1143000"/>
            <a:ext cx="5486040" cy="3085920"/>
          </a:xfrm>
          <a:prstGeom prst="rect">
            <a:avLst/>
          </a:prstGeom>
          <a:ln w="0">
            <a:noFill/>
          </a:ln>
        </p:spPr>
      </p:sp>
      <p:sp>
        <p:nvSpPr>
          <p:cNvPr id="15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1–1.5 min — one of the key slides. Go left to right.</a:t>
            </a:r>
            <a:endParaRPr lang="pt-PT"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1) The Angular SPA runs in the browser. During development the Angular dev server on :4200 serves the bundle and proxies /api to the backend, so the browser only talks to one origin (CORS is also configured for :4200).</a:t>
            </a:r>
            <a:endParaRPr lang="pt-PT"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2) Spring Boot on :8000 has three layers: the REST controller (HTTP + JSON, validation), the services (business rule and transactions) and Spring Data JPA repositories.</a:t>
            </a:r>
            <a:endParaRPr lang="pt-PT"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3) Data lives in H2 in-memory; schema.sql and data.sql recreate it on every start and Hibernate only validates the entities against it.</a:t>
            </a:r>
            <a:endParaRPr lang="pt-PT"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Cross-cutting: @Valid → 400, a global exception handler that returns ProblemDetail (RFC 7807) for 404/400/500, and the H2 console for inspection.</a:t>
            </a:r>
            <a:endParaRPr lang="pt-PT"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Postman calls the API directly on :8000.</a:t>
            </a:r>
            <a:endParaRPr lang="pt-PT" sz="2000" b="0" u="none" strike="noStrike">
              <a:solidFill>
                <a:srgbClr val="000000"/>
              </a:solidFill>
              <a:effectLst/>
              <a:uFillTx/>
              <a:latin typeface="Arial"/>
            </a:endParaRPr>
          </a:p>
        </p:txBody>
      </p:sp>
      <p:sp>
        <p:nvSpPr>
          <p:cNvPr id="160"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3F212A1-0B44-467D-88BE-FF8FFAB0EAA7}" type="slidenum">
              <a:rPr lang="en-US" sz="1200" b="0" u="none" strike="noStrike">
                <a:solidFill>
                  <a:schemeClr val="dk1"/>
                </a:solidFill>
                <a:effectLst/>
                <a:uFillTx/>
                <a:latin typeface="+mn-lt"/>
                <a:ea typeface="+mn-ea"/>
              </a:rPr>
              <a:t>&lt;número&gt;</a:t>
            </a:fld>
            <a:endParaRPr lang="pt-PT"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sldImg"/>
          </p:nvPr>
        </p:nvSpPr>
        <p:spPr>
          <a:xfrm>
            <a:off x="685800" y="1143000"/>
            <a:ext cx="5486040" cy="3085920"/>
          </a:xfrm>
          <a:prstGeom prst="rect">
            <a:avLst/>
          </a:prstGeom>
          <a:ln w="0">
            <a:noFill/>
          </a:ln>
        </p:spPr>
      </p:sp>
      <p:sp>
        <p:nvSpPr>
          <p:cNvPr id="16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~1 min. Four tables.</a:t>
            </a:r>
            <a:endParaRPr lang="pt-PT"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shipments: the shipment code is the business key shown in the UI.</a:t>
            </a:r>
            <a:endParaRPr lang="pt-PT"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profit_calculations: one row per calculation = one row of the history. It belongs to a shipment.</a:t>
            </a:r>
            <a:endParaRPr lang="pt-PT"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incomes and costs belong to a calculation (calculation_id, ON DELETE CASCADE). Costs are told apart by description: "Cost" and "Additional cost".</a:t>
            </a:r>
            <a:endParaRPr lang="pt-PT"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How the figures are obtained: the service creates one income and one or two costs, sums them with BigDecimal and stores the totals and the result on the calculation, so the history is read without re-summing. The database double-checks with a CHECK constraint, and amounts can never be negative.</a:t>
            </a:r>
            <a:endParaRPr lang="pt-PT"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Why each calculation owns its entries: the history in the prototype (1000/200/800 and 500/900/−400) only makes sense if every calculation is independent — running totals could not produce those rows.</a:t>
            </a:r>
            <a:endParaRPr lang="pt-PT" sz="2000" b="0" u="none" strike="noStrike">
              <a:solidFill>
                <a:srgbClr val="000000"/>
              </a:solidFill>
              <a:effectLst/>
              <a:uFillTx/>
              <a:latin typeface="Arial"/>
            </a:endParaRPr>
          </a:p>
        </p:txBody>
      </p:sp>
      <p:sp>
        <p:nvSpPr>
          <p:cNvPr id="163"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382FFD6-AE36-49E7-8246-34169D105E1E}" type="slidenum">
              <a:rPr lang="en-US" sz="1200" b="0" u="none" strike="noStrike">
                <a:solidFill>
                  <a:schemeClr val="dk1"/>
                </a:solidFill>
                <a:effectLst/>
                <a:uFillTx/>
                <a:latin typeface="+mn-lt"/>
                <a:ea typeface="+mn-ea"/>
              </a:rPr>
              <a:t>&lt;número&gt;</a:t>
            </a:fld>
            <a:endParaRPr lang="pt-PT"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PlaceHolder 1"/>
          <p:cNvSpPr>
            <a:spLocks noGrp="1"/>
          </p:cNvSpPr>
          <p:nvPr>
            <p:ph type="sldImg"/>
          </p:nvPr>
        </p:nvSpPr>
        <p:spPr>
          <a:xfrm>
            <a:off x="685800" y="1143000"/>
            <a:ext cx="5486040" cy="3085920"/>
          </a:xfrm>
          <a:prstGeom prst="rect">
            <a:avLst/>
          </a:prstGeom>
          <a:ln w="0">
            <a:noFill/>
          </a:ln>
        </p:spPr>
      </p:sp>
      <p:sp>
        <p:nvSpPr>
          <p:cNvPr id="16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~1 min. Trace one POST from left to right and back.</a:t>
            </a:r>
            <a:endParaRPr lang="pt-PT"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1–3: the user clicks Calculate; the form (already validated in the browser) emits a CalculationRequest; the page calls the Angular service, which POSTs JSON to /api/shipments/{id}/profit-calculations.</a:t>
            </a:r>
            <a:endParaRPr lang="pt-PT"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4: the controller validates the body with @Valid — invalid data stops here with a 400 ProblemDetail.</a:t>
            </a:r>
            <a:endParaRPr lang="pt-PT"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5–7: the service loads the shipment; if it doesn't exist → ShipmentNotFoundException → 404.</a:t>
            </a:r>
            <a:endParaRPr lang="pt-PT"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8: it builds the calculation with one income and the cost(s) and computes profit = income − costs with BigDecimal.</a:t>
            </a:r>
            <a:endParaRPr lang="pt-PT"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9–10: a single save() inside @Transactional inserts the calculation and, by cascade, its income and costs.</a:t>
            </a:r>
            <a:endParaRPr lang="pt-PT"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Back: the mapper turns the entity into a ProfitCalculationResponse, the API answers 201 Created, and the page puts the new row on top of the history, resets the form and shows a snackbar.</a:t>
            </a:r>
            <a:endParaRPr lang="pt-PT" sz="2000" b="0" u="none" strike="noStrike">
              <a:solidFill>
                <a:srgbClr val="000000"/>
              </a:solidFill>
              <a:effectLst/>
              <a:uFillTx/>
              <a:latin typeface="Arial"/>
            </a:endParaRPr>
          </a:p>
        </p:txBody>
      </p:sp>
      <p:sp>
        <p:nvSpPr>
          <p:cNvPr id="166"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9388ADC-C448-463E-81BE-C09C95EA1F8F}" type="slidenum">
              <a:rPr lang="en-US" sz="1200" b="0" u="none" strike="noStrike">
                <a:solidFill>
                  <a:schemeClr val="dk1"/>
                </a:solidFill>
                <a:effectLst/>
                <a:uFillTx/>
                <a:latin typeface="+mn-lt"/>
                <a:ea typeface="+mn-ea"/>
              </a:rPr>
              <a:t>&lt;número&gt;</a:t>
            </a:fld>
            <a:endParaRPr lang="pt-PT"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PlaceHolder 1"/>
          <p:cNvSpPr>
            <a:spLocks noGrp="1"/>
          </p:cNvSpPr>
          <p:nvPr>
            <p:ph type="sldImg"/>
          </p:nvPr>
        </p:nvSpPr>
        <p:spPr>
          <a:xfrm>
            <a:off x="685800" y="1143000"/>
            <a:ext cx="5486040" cy="3085920"/>
          </a:xfrm>
          <a:prstGeom prst="rect">
            <a:avLst/>
          </a:prstGeom>
          <a:ln w="0">
            <a:noFill/>
          </a:ln>
        </p:spPr>
      </p:sp>
      <p:sp>
        <p:nvSpPr>
          <p:cNvPr id="16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1–2 min. Ideally switch to the live app here (backend: mvnw spring-boot:run, frontend: npm start, open localhost:4200).</a:t>
            </a:r>
            <a:endParaRPr lang="pt-PT"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Demo script: select SHP-0001 → history loads → enter income 1000, cost 150, additional cost 50 → Calculate → a new row 1,000.00 / 200.00 / 800.00 appears on top, in green, with a snackbar. Optionally show a validation error (empty income) and sort a column.</a:t>
            </a:r>
            <a:endParaRPr lang="pt-PT"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Implementation detail to explain: ProfitCalculation is an aggregate that owns its incomes and costs. addIncome/addCost keep both sides of the relation in sync, and cascade = ALL lets a single save() inside @Transactional persist everything together — either all rows are written or none. The database CHECK constraint is a last guard that the stored result is consistent.</a:t>
            </a:r>
            <a:endParaRPr lang="pt-PT" sz="2000" b="0" u="none" strike="noStrike">
              <a:solidFill>
                <a:srgbClr val="000000"/>
              </a:solidFill>
              <a:effectLst/>
              <a:uFillTx/>
              <a:latin typeface="Arial"/>
            </a:endParaRPr>
          </a:p>
        </p:txBody>
      </p:sp>
      <p:sp>
        <p:nvSpPr>
          <p:cNvPr id="169"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EF70B5D-33CF-4F7F-97AD-1189736BDD8E}" type="slidenum">
              <a:rPr lang="en-US" sz="1200" b="0" u="none" strike="noStrike">
                <a:solidFill>
                  <a:schemeClr val="dk1"/>
                </a:solidFill>
                <a:effectLst/>
                <a:uFillTx/>
                <a:latin typeface="+mn-lt"/>
                <a:ea typeface="+mn-ea"/>
              </a:rPr>
              <a:t>&lt;número&gt;</a:t>
            </a:fld>
            <a:endParaRPr lang="pt-PT"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sldImg"/>
          </p:nvPr>
        </p:nvSpPr>
        <p:spPr>
          <a:xfrm>
            <a:off x="685800" y="1143000"/>
            <a:ext cx="5486040" cy="3085920"/>
          </a:xfrm>
          <a:prstGeom prst="rect">
            <a:avLst/>
          </a:prstGeom>
          <a:ln w="0">
            <a:noFill/>
          </a:ln>
        </p:spPr>
      </p:sp>
      <p:sp>
        <p:nvSpPr>
          <p:cNvPr id="17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~1 min. Be explicit about what exists versus what I would add.</a:t>
            </a:r>
            <a:endParaRPr lang="pt-PT"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Implemented (backend, JUnit 5): 9 controller tests with @WebMvcTest + MockMvc (HTTP status codes and ProblemDetail bodies), 11 service tests with Mockito (the rule, negative results, the optional additional cost, not-found), 6 repository tests with @DataJpaTest on a real H2 (custom queries, cascade save/delete, the CHECK constraint) and 1 context-load test = 27.</a:t>
            </a:r>
            <a:endParaRPr lang="pt-PT"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Edge cases covered: loss (−400), zero/empty additional cost, missing income, negative amount, malformed JSON, unknown shipment, unexpected error → 500 with a generic message.</a:t>
            </a:r>
            <a:endParaRPr lang="pt-PT"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Not implemented — would add: Angular tests, an end-to-end test, a full-stack HTTP test, zero income/cost and the @Digits(10,2) limit, and concurrency.</a:t>
            </a:r>
            <a:endParaRPr lang="pt-PT" sz="2000" b="0" u="none" strike="noStrike">
              <a:solidFill>
                <a:srgbClr val="000000"/>
              </a:solidFill>
              <a:effectLst/>
              <a:uFillTx/>
              <a:latin typeface="Arial"/>
            </a:endParaRPr>
          </a:p>
        </p:txBody>
      </p:sp>
      <p:sp>
        <p:nvSpPr>
          <p:cNvPr id="172"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C0D0533-FF37-42F4-97F4-A3D86407C5C8}" type="slidenum">
              <a:rPr lang="en-US" sz="1200" b="0" u="none" strike="noStrike">
                <a:solidFill>
                  <a:schemeClr val="dk1"/>
                </a:solidFill>
                <a:effectLst/>
                <a:uFillTx/>
                <a:latin typeface="+mn-lt"/>
                <a:ea typeface="+mn-ea"/>
              </a:rPr>
              <a:t>&lt;número&gt;</a:t>
            </a:fld>
            <a:endParaRPr lang="pt-PT"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PlaceHolder 1"/>
          <p:cNvSpPr>
            <a:spLocks noGrp="1"/>
          </p:cNvSpPr>
          <p:nvPr>
            <p:ph type="sldImg"/>
          </p:nvPr>
        </p:nvSpPr>
        <p:spPr>
          <a:xfrm>
            <a:off x="685800" y="1143000"/>
            <a:ext cx="5486040" cy="3085920"/>
          </a:xfrm>
          <a:prstGeom prst="rect">
            <a:avLst/>
          </a:prstGeom>
          <a:ln w="0">
            <a:noFill/>
          </a:ln>
        </p:spPr>
      </p:sp>
      <p:sp>
        <p:nvSpPr>
          <p:cNvPr id="17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~1 min.</a:t>
            </a:r>
            <a:endParaRPr lang="pt-PT"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Layers: the controller only knows HTTP (paths, status codes, validation), the service holds the rule and the transaction, the repository only persistence. That is why I could test each with the right tool (MockMvc, Mockito, @DataJpaTest).</a:t>
            </a:r>
            <a:endParaRPr lang="pt-PT"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Validation: the same rules on three levels — the UI gives instant feedback, the API never trusts the client (Bean Validation + a global handler returning ProblemDetail), and the database is the final guard.</a:t>
            </a:r>
            <a:endParaRPr lang="pt-PT"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Independent calculations: a conscious decision driven by the prototype's history rows.</a:t>
            </a:r>
            <a:endParaRPr lang="pt-PT"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Money: BigDecimal end to end and DECIMAL(12,2) in the database; DTO records + mappers keep JPA entities out of the API contract.</a:t>
            </a:r>
            <a:endParaRPr lang="pt-PT"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Improvements: security first, then a real database with migrations, more tests in CI, API docs, pagination and one-command startup.</a:t>
            </a:r>
            <a:endParaRPr lang="pt-PT" sz="2000" b="0" u="none" strike="noStrike">
              <a:solidFill>
                <a:srgbClr val="000000"/>
              </a:solidFill>
              <a:effectLst/>
              <a:uFillTx/>
              <a:latin typeface="Arial"/>
            </a:endParaRPr>
          </a:p>
        </p:txBody>
      </p:sp>
      <p:sp>
        <p:nvSpPr>
          <p:cNvPr id="175"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5904524-9992-4582-9FB0-1AFBA20CB94D}" type="slidenum">
              <a:rPr lang="en-US" sz="1200" b="0" u="none" strike="noStrike">
                <a:solidFill>
                  <a:schemeClr val="dk1"/>
                </a:solidFill>
                <a:effectLst/>
                <a:uFillTx/>
                <a:latin typeface="+mn-lt"/>
                <a:ea typeface="+mn-ea"/>
              </a:rPr>
              <a:t>&lt;número&gt;</a:t>
            </a:fld>
            <a:endParaRPr lang="pt-PT"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sldImg"/>
          </p:nvPr>
        </p:nvSpPr>
        <p:spPr>
          <a:xfrm>
            <a:off x="685800" y="1143000"/>
            <a:ext cx="5486040" cy="3085920"/>
          </a:xfrm>
          <a:prstGeom prst="rect">
            <a:avLst/>
          </a:prstGeom>
          <a:ln w="0">
            <a:noFill/>
          </a:ln>
        </p:spPr>
      </p:sp>
      <p:sp>
        <p:nvSpPr>
          <p:cNvPr id="17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~30 s. Summarise in three sentences, using the three cards.</a:t>
            </a:r>
            <a:endParaRPr lang="pt-PT"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Personalise "What I learned" with your own words before the interview.</a:t>
            </a:r>
            <a:endParaRPr lang="pt-PT"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Then stop and invite questions: "Thank you — I'm happy to take questions, or show any part of the code."</a:t>
            </a:r>
            <a:endParaRPr lang="pt-PT" sz="2000" b="0" u="none" strike="noStrike">
              <a:solidFill>
                <a:srgbClr val="000000"/>
              </a:solidFill>
              <a:effectLst/>
              <a:uFillTx/>
              <a:latin typeface="Arial"/>
            </a:endParaRPr>
          </a:p>
        </p:txBody>
      </p:sp>
      <p:sp>
        <p:nvSpPr>
          <p:cNvPr id="178"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5114119-C5E3-424E-9564-1F00AF8D7F14}" type="slidenum">
              <a:rPr lang="en-US" sz="1200" b="0" u="none" strike="noStrike">
                <a:solidFill>
                  <a:schemeClr val="dk1"/>
                </a:solidFill>
                <a:effectLst/>
                <a:uFillTx/>
                <a:latin typeface="+mn-lt"/>
                <a:ea typeface="+mn-ea"/>
              </a:rPr>
              <a:t>&lt;número&gt;</a:t>
            </a:fld>
            <a:endParaRPr lang="pt-PT"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p:bg>
      <p:bgPr>
        <a:solidFill>
          <a:schemeClr val="dk2"/>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731520" y="1828800"/>
            <a:ext cx="5760360" cy="1096920"/>
          </a:xfrm>
          <a:prstGeom prst="rect">
            <a:avLst/>
          </a:prstGeom>
          <a:noFill/>
          <a:ln w="0">
            <a:noFill/>
          </a:ln>
        </p:spPr>
        <p:txBody>
          <a:bodyPr lIns="90000" tIns="45000" rIns="90000" bIns="45000" anchor="t">
            <a:noAutofit/>
          </a:bodyPr>
          <a:lstStyle>
            <a:lvl1pPr indent="0" algn="l">
              <a:buNone/>
              <a:defRPr lang="pt-PT" sz="5400" b="0" u="none" strike="noStrike">
                <a:solidFill>
                  <a:schemeClr val="dk1"/>
                </a:solidFill>
                <a:effectLst/>
                <a:uFillTx/>
                <a:latin typeface="Calibri"/>
              </a:defRPr>
            </a:lvl1pPr>
          </a:lstStyle>
          <a:p>
            <a:pPr indent="0" algn="l">
              <a:buNone/>
            </a:pPr>
            <a:r>
              <a:rPr lang="pt-PT" sz="5400" b="0" u="none" strike="noStrike">
                <a:solidFill>
                  <a:schemeClr val="dk1"/>
                </a:solidFill>
                <a:effectLst/>
                <a:uFillTx/>
                <a:latin typeface="Calibri"/>
              </a:rPr>
              <a:t>Clique para editar o formato do título</a:t>
            </a:r>
            <a:endParaRPr lang="pt-PT" sz="5400" b="0" u="none" strike="noStrike">
              <a:solidFill>
                <a:schemeClr val="dk1"/>
              </a:solidFill>
              <a:effectLst/>
              <a:uFillTx/>
              <a:latin typeface="Calibri"/>
            </a:endParaRPr>
          </a:p>
        </p:txBody>
      </p:sp>
      <p:sp>
        <p:nvSpPr>
          <p:cNvPr id="3" name="PlaceHolder 2"/>
          <p:cNvSpPr>
            <a:spLocks noGrp="1"/>
          </p:cNvSpPr>
          <p:nvPr>
            <p:ph type="body"/>
          </p:nvPr>
        </p:nvSpPr>
        <p:spPr>
          <a:xfrm>
            <a:off x="731520" y="3063240"/>
            <a:ext cx="5760360" cy="914040"/>
          </a:xfrm>
          <a:prstGeom prst="rect">
            <a:avLst/>
          </a:prstGeom>
          <a:noFill/>
          <a:ln w="0">
            <a:noFill/>
          </a:ln>
        </p:spPr>
        <p:txBody>
          <a:bodyPr lIns="90000" tIns="45000" rIns="90000" bIns="45000" anchor="t">
            <a:noAutofit/>
          </a:bodyPr>
          <a:lstStyle>
            <a:lvl1pPr algn="l">
              <a:spcBef>
                <a:spcPts val="1417"/>
              </a:spcBef>
              <a:buClr>
                <a:srgbClr val="FFFFFF"/>
              </a:buClr>
              <a:buSzPct val="45000"/>
              <a:buFont typeface="Wingdings" charset="2"/>
              <a:buChar char=""/>
              <a:defRPr lang="pt-PT" sz="2200" b="0" u="none" strike="noStrike">
                <a:solidFill>
                  <a:schemeClr val="dk1"/>
                </a:solidFill>
                <a:effectLst/>
                <a:uFillTx/>
                <a:latin typeface="Calibri"/>
              </a:defRPr>
            </a:lvl1pPr>
            <a:lvl2pPr lvl="1" algn="l">
              <a:spcBef>
                <a:spcPts val="1134"/>
              </a:spcBef>
              <a:buClr>
                <a:srgbClr val="FFFFFF"/>
              </a:buClr>
              <a:buSzPct val="75000"/>
              <a:buFont typeface="Symbol" charset="2"/>
              <a:buChar char=""/>
              <a:defRPr lang="pt-PT" sz="2200" b="0" u="none" strike="noStrike">
                <a:solidFill>
                  <a:schemeClr val="dk1"/>
                </a:solidFill>
                <a:effectLst/>
                <a:uFillTx/>
                <a:latin typeface="Calibri"/>
              </a:defRPr>
            </a:lvl2pPr>
            <a:lvl3pPr lvl="2" algn="l">
              <a:spcBef>
                <a:spcPts val="850"/>
              </a:spcBef>
              <a:buClr>
                <a:srgbClr val="FFFFFF"/>
              </a:buClr>
              <a:buSzPct val="45000"/>
              <a:buFont typeface="Wingdings" charset="2"/>
              <a:buChar char=""/>
              <a:defRPr lang="pt-PT" sz="2200" b="0" u="none" strike="noStrike">
                <a:solidFill>
                  <a:schemeClr val="dk1"/>
                </a:solidFill>
                <a:effectLst/>
                <a:uFillTx/>
                <a:latin typeface="Calibri"/>
              </a:defRPr>
            </a:lvl3pPr>
            <a:lvl4pPr lvl="3" algn="l">
              <a:spcBef>
                <a:spcPts val="567"/>
              </a:spcBef>
              <a:buClr>
                <a:srgbClr val="FFFFFF"/>
              </a:buClr>
              <a:buSzPct val="75000"/>
              <a:buFont typeface="Symbol" charset="2"/>
              <a:buChar char=""/>
              <a:defRPr lang="pt-PT" sz="2200" b="0" u="none" strike="noStrike">
                <a:solidFill>
                  <a:schemeClr val="dk1"/>
                </a:solidFill>
                <a:effectLst/>
                <a:uFillTx/>
                <a:latin typeface="Calibri"/>
              </a:defRPr>
            </a:lvl4pPr>
            <a:lvl5pPr lvl="4" algn="l">
              <a:spcBef>
                <a:spcPts val="283"/>
              </a:spcBef>
              <a:buClr>
                <a:srgbClr val="FFFFFF"/>
              </a:buClr>
              <a:buSzPct val="45000"/>
              <a:buFont typeface="Wingdings" charset="2"/>
              <a:buChar char=""/>
              <a:defRPr lang="pt-PT" sz="2200" b="0" u="none" strike="noStrike">
                <a:solidFill>
                  <a:schemeClr val="dk1"/>
                </a:solidFill>
                <a:effectLst/>
                <a:uFillTx/>
                <a:latin typeface="Calibri"/>
              </a:defRPr>
            </a:lvl5pPr>
            <a:lvl6pPr lvl="5" algn="l">
              <a:spcBef>
                <a:spcPts val="283"/>
              </a:spcBef>
              <a:buClr>
                <a:srgbClr val="FFFFFF"/>
              </a:buClr>
              <a:buSzPct val="45000"/>
              <a:buFont typeface="Wingdings" charset="2"/>
              <a:buChar char=""/>
              <a:defRPr lang="pt-PT" sz="2200" b="0" u="none" strike="noStrike">
                <a:solidFill>
                  <a:schemeClr val="dk1"/>
                </a:solidFill>
                <a:effectLst/>
                <a:uFillTx/>
                <a:latin typeface="Calibri"/>
              </a:defRPr>
            </a:lvl6pPr>
            <a:lvl7pPr lvl="6" algn="l">
              <a:spcBef>
                <a:spcPts val="283"/>
              </a:spcBef>
              <a:buClr>
                <a:srgbClr val="FFFFFF"/>
              </a:buClr>
              <a:buSzPct val="45000"/>
              <a:buFont typeface="Wingdings" charset="2"/>
              <a:buChar char=""/>
              <a:defRPr lang="pt-PT" sz="2200" b="0" u="none" strike="noStrike">
                <a:solidFill>
                  <a:schemeClr val="dk1"/>
                </a:solidFill>
                <a:effectLst/>
                <a:uFillTx/>
                <a:latin typeface="Calibri"/>
              </a:defRPr>
            </a:lvl7pPr>
          </a:lstStyle>
          <a:p>
            <a:pPr algn="l">
              <a:spcBef>
                <a:spcPts val="1417"/>
              </a:spcBef>
              <a:buClr>
                <a:srgbClr val="FFFFFF"/>
              </a:buClr>
              <a:buSzPct val="45000"/>
              <a:buFont typeface="Wingdings" charset="2"/>
              <a:buChar char=""/>
            </a:pPr>
            <a:r>
              <a:rPr lang="pt-PT" sz="2200" b="0" u="none" strike="noStrike">
                <a:solidFill>
                  <a:schemeClr val="dk1"/>
                </a:solidFill>
                <a:effectLst/>
                <a:uFillTx/>
                <a:latin typeface="Calibri"/>
              </a:rPr>
              <a:t>Clique para editar o formato de texto dos tópicos</a:t>
            </a:r>
            <a:endParaRPr lang="pt-PT" sz="2200" b="0" u="none" strike="noStrike">
              <a:solidFill>
                <a:schemeClr val="dk1"/>
              </a:solidFill>
              <a:effectLst/>
              <a:uFillTx/>
              <a:latin typeface="Calibri"/>
            </a:endParaRPr>
          </a:p>
          <a:p>
            <a:pPr marL="743040" lvl="1" indent="-285840" algn="l">
              <a:spcBef>
                <a:spcPts val="1134"/>
              </a:spcBef>
              <a:buClr>
                <a:srgbClr val="FFFFFF"/>
              </a:buClr>
              <a:buSzPct val="75000"/>
              <a:buFont typeface="Symbol" charset="2"/>
              <a:buChar char=""/>
            </a:pPr>
            <a:r>
              <a:rPr lang="pt-PT" sz="2200" b="0" u="none" strike="noStrike">
                <a:solidFill>
                  <a:schemeClr val="dk1"/>
                </a:solidFill>
                <a:effectLst/>
                <a:uFillTx/>
                <a:latin typeface="Calibri"/>
              </a:rPr>
              <a:t>Segundo nível de tópicos</a:t>
            </a:r>
            <a:endParaRPr lang="pt-PT" sz="2200" b="0" u="none" strike="noStrike">
              <a:solidFill>
                <a:schemeClr val="dk1"/>
              </a:solidFill>
              <a:effectLst/>
              <a:uFillTx/>
              <a:latin typeface="Calibri"/>
            </a:endParaRPr>
          </a:p>
          <a:p>
            <a:pPr marL="1143000" lvl="2" indent="-228600" algn="l">
              <a:spcBef>
                <a:spcPts val="850"/>
              </a:spcBef>
              <a:buClr>
                <a:srgbClr val="FFFFFF"/>
              </a:buClr>
              <a:buSzPct val="45000"/>
              <a:buFont typeface="Wingdings" charset="2"/>
              <a:buChar char=""/>
            </a:pPr>
            <a:r>
              <a:rPr lang="pt-PT" sz="2200" b="0" u="none" strike="noStrike">
                <a:solidFill>
                  <a:schemeClr val="dk1"/>
                </a:solidFill>
                <a:effectLst/>
                <a:uFillTx/>
                <a:latin typeface="Calibri"/>
              </a:rPr>
              <a:t>Terceiro nível de tópicos</a:t>
            </a:r>
            <a:endParaRPr lang="pt-PT" sz="2200" b="0" u="none" strike="noStrike">
              <a:solidFill>
                <a:schemeClr val="dk1"/>
              </a:solidFill>
              <a:effectLst/>
              <a:uFillTx/>
              <a:latin typeface="Calibri"/>
            </a:endParaRPr>
          </a:p>
          <a:p>
            <a:pPr marL="1600200" lvl="3" indent="-228600" algn="l">
              <a:spcBef>
                <a:spcPts val="567"/>
              </a:spcBef>
              <a:buClr>
                <a:srgbClr val="FFFFFF"/>
              </a:buClr>
              <a:buSzPct val="75000"/>
              <a:buFont typeface="Symbol" charset="2"/>
              <a:buChar char=""/>
            </a:pPr>
            <a:r>
              <a:rPr lang="pt-PT" sz="2200" b="0" u="none" strike="noStrike">
                <a:solidFill>
                  <a:schemeClr val="dk1"/>
                </a:solidFill>
                <a:effectLst/>
                <a:uFillTx/>
                <a:latin typeface="Calibri"/>
              </a:rPr>
              <a:t>Quarto nível de tópicos</a:t>
            </a:r>
            <a:endParaRPr lang="pt-PT" sz="2200" b="0" u="none" strike="noStrike">
              <a:solidFill>
                <a:schemeClr val="dk1"/>
              </a:solidFill>
              <a:effectLst/>
              <a:uFillTx/>
              <a:latin typeface="Calibri"/>
            </a:endParaRPr>
          </a:p>
          <a:p>
            <a:pPr marL="2057400" lvl="4" indent="-228600" algn="l">
              <a:spcBef>
                <a:spcPts val="283"/>
              </a:spcBef>
              <a:buClr>
                <a:srgbClr val="FFFFFF"/>
              </a:buClr>
              <a:buSzPct val="45000"/>
              <a:buFont typeface="Wingdings" charset="2"/>
              <a:buChar char=""/>
            </a:pPr>
            <a:r>
              <a:rPr lang="pt-PT" sz="2200" b="0" u="none" strike="noStrike">
                <a:solidFill>
                  <a:schemeClr val="dk1"/>
                </a:solidFill>
                <a:effectLst/>
                <a:uFillTx/>
                <a:latin typeface="Calibri"/>
              </a:rPr>
              <a:t>Quinto nível de tópicos</a:t>
            </a:r>
            <a:endParaRPr lang="pt-PT" sz="2200" b="0" u="none" strike="noStrike">
              <a:solidFill>
                <a:schemeClr val="dk1"/>
              </a:solidFill>
              <a:effectLst/>
              <a:uFillTx/>
              <a:latin typeface="Calibri"/>
            </a:endParaRPr>
          </a:p>
          <a:p>
            <a:pPr marL="2514600" lvl="5" indent="-228600" algn="l">
              <a:spcBef>
                <a:spcPts val="283"/>
              </a:spcBef>
              <a:buClr>
                <a:srgbClr val="FFFFFF"/>
              </a:buClr>
              <a:buSzPct val="45000"/>
              <a:buFont typeface="Wingdings" charset="2"/>
              <a:buChar char=""/>
            </a:pPr>
            <a:r>
              <a:rPr lang="pt-PT" sz="2200" b="0" u="none" strike="noStrike">
                <a:solidFill>
                  <a:schemeClr val="dk1"/>
                </a:solidFill>
                <a:effectLst/>
                <a:uFillTx/>
                <a:latin typeface="Calibri"/>
              </a:rPr>
              <a:t>Sexto nível de tópicos</a:t>
            </a:r>
            <a:endParaRPr lang="pt-PT" sz="2200" b="0" u="none" strike="noStrike">
              <a:solidFill>
                <a:schemeClr val="dk1"/>
              </a:solidFill>
              <a:effectLst/>
              <a:uFillTx/>
              <a:latin typeface="Calibri"/>
            </a:endParaRPr>
          </a:p>
          <a:p>
            <a:pPr marL="2971800" lvl="6" indent="-228600" algn="l">
              <a:spcBef>
                <a:spcPts val="283"/>
              </a:spcBef>
              <a:buClr>
                <a:srgbClr val="FFFFFF"/>
              </a:buClr>
              <a:buSzPct val="45000"/>
              <a:buFont typeface="Wingdings" charset="2"/>
              <a:buChar char=""/>
            </a:pPr>
            <a:r>
              <a:rPr lang="pt-PT" sz="2200" b="0" u="none" strike="noStrike">
                <a:solidFill>
                  <a:schemeClr val="dk1"/>
                </a:solidFill>
                <a:effectLst/>
                <a:uFillTx/>
                <a:latin typeface="Calibri"/>
              </a:rPr>
              <a:t>Sétimo nível de tópicos</a:t>
            </a:r>
            <a:endParaRPr lang="pt-PT" sz="2200" b="0" u="none" strike="noStrike">
              <a:solidFill>
                <a:schemeClr val="dk1"/>
              </a:solidFill>
              <a:effectLst/>
              <a:uFillTx/>
              <a:latin typeface="Calibri"/>
            </a:endParaRPr>
          </a:p>
        </p:txBody>
      </p:sp>
      <p:sp>
        <p:nvSpPr>
          <p:cNvPr id="4" name="PlaceHolder 3"/>
          <p:cNvSpPr>
            <a:spLocks noGrp="1"/>
          </p:cNvSpPr>
          <p:nvPr>
            <p:ph type="body"/>
          </p:nvPr>
        </p:nvSpPr>
        <p:spPr>
          <a:xfrm>
            <a:off x="731520" y="4983480"/>
            <a:ext cx="10515240" cy="822600"/>
          </a:xfrm>
          <a:prstGeom prst="rect">
            <a:avLst/>
          </a:prstGeom>
          <a:noFill/>
          <a:ln w="0">
            <a:noFill/>
          </a:ln>
        </p:spPr>
        <p:txBody>
          <a:bodyPr lIns="90000" tIns="45000" rIns="90000" bIns="45000" anchor="t">
            <a:noAutofit/>
          </a:bodyPr>
          <a:lstStyle>
            <a:lvl1pPr algn="l">
              <a:spcBef>
                <a:spcPts val="1417"/>
              </a:spcBef>
              <a:buClr>
                <a:srgbClr val="FFFFFF"/>
              </a:buClr>
              <a:buSzPct val="45000"/>
              <a:buFont typeface="Wingdings" charset="2"/>
              <a:buChar char=""/>
              <a:defRPr lang="pt-PT" sz="1600" b="0" u="none" strike="noStrike">
                <a:solidFill>
                  <a:schemeClr val="dk1"/>
                </a:solidFill>
                <a:effectLst/>
                <a:uFillTx/>
                <a:latin typeface="Calibri"/>
              </a:defRPr>
            </a:lvl1pPr>
            <a:lvl2pPr lvl="1" algn="l">
              <a:spcBef>
                <a:spcPts val="1134"/>
              </a:spcBef>
              <a:buClr>
                <a:srgbClr val="FFFFFF"/>
              </a:buClr>
              <a:buSzPct val="75000"/>
              <a:buFont typeface="Symbol" charset="2"/>
              <a:buChar char=""/>
              <a:defRPr lang="pt-PT" sz="1600" b="0" u="none" strike="noStrike">
                <a:solidFill>
                  <a:schemeClr val="dk1"/>
                </a:solidFill>
                <a:effectLst/>
                <a:uFillTx/>
                <a:latin typeface="Calibri"/>
              </a:defRPr>
            </a:lvl2pPr>
            <a:lvl3pPr lvl="2" algn="l">
              <a:spcBef>
                <a:spcPts val="850"/>
              </a:spcBef>
              <a:buClr>
                <a:srgbClr val="FFFFFF"/>
              </a:buClr>
              <a:buSzPct val="45000"/>
              <a:buFont typeface="Wingdings" charset="2"/>
              <a:buChar char=""/>
              <a:defRPr lang="pt-PT" sz="1600" b="0" u="none" strike="noStrike">
                <a:solidFill>
                  <a:schemeClr val="dk1"/>
                </a:solidFill>
                <a:effectLst/>
                <a:uFillTx/>
                <a:latin typeface="Calibri"/>
              </a:defRPr>
            </a:lvl3pPr>
            <a:lvl4pPr lvl="3" algn="l">
              <a:spcBef>
                <a:spcPts val="567"/>
              </a:spcBef>
              <a:buClr>
                <a:srgbClr val="FFFFFF"/>
              </a:buClr>
              <a:buSzPct val="75000"/>
              <a:buFont typeface="Symbol" charset="2"/>
              <a:buChar char=""/>
              <a:defRPr lang="pt-PT" sz="1600" b="0" u="none" strike="noStrike">
                <a:solidFill>
                  <a:schemeClr val="dk1"/>
                </a:solidFill>
                <a:effectLst/>
                <a:uFillTx/>
                <a:latin typeface="Calibri"/>
              </a:defRPr>
            </a:lvl4pPr>
            <a:lvl5pPr lvl="4" algn="l">
              <a:spcBef>
                <a:spcPts val="283"/>
              </a:spcBef>
              <a:buClr>
                <a:srgbClr val="FFFFFF"/>
              </a:buClr>
              <a:buSzPct val="45000"/>
              <a:buFont typeface="Wingdings" charset="2"/>
              <a:buChar char=""/>
              <a:defRPr lang="pt-PT" sz="1600" b="0" u="none" strike="noStrike">
                <a:solidFill>
                  <a:schemeClr val="dk1"/>
                </a:solidFill>
                <a:effectLst/>
                <a:uFillTx/>
                <a:latin typeface="Calibri"/>
              </a:defRPr>
            </a:lvl5pPr>
            <a:lvl6pPr lvl="5" algn="l">
              <a:spcBef>
                <a:spcPts val="283"/>
              </a:spcBef>
              <a:buClr>
                <a:srgbClr val="FFFFFF"/>
              </a:buClr>
              <a:buSzPct val="45000"/>
              <a:buFont typeface="Wingdings" charset="2"/>
              <a:buChar char=""/>
              <a:defRPr lang="pt-PT" sz="1600" b="0" u="none" strike="noStrike">
                <a:solidFill>
                  <a:schemeClr val="dk1"/>
                </a:solidFill>
                <a:effectLst/>
                <a:uFillTx/>
                <a:latin typeface="Calibri"/>
              </a:defRPr>
            </a:lvl6pPr>
            <a:lvl7pPr lvl="6" algn="l">
              <a:spcBef>
                <a:spcPts val="283"/>
              </a:spcBef>
              <a:buClr>
                <a:srgbClr val="FFFFFF"/>
              </a:buClr>
              <a:buSzPct val="45000"/>
              <a:buFont typeface="Wingdings" charset="2"/>
              <a:buChar char=""/>
              <a:defRPr lang="pt-PT" sz="1600" b="0" u="none" strike="noStrike">
                <a:solidFill>
                  <a:schemeClr val="dk1"/>
                </a:solidFill>
                <a:effectLst/>
                <a:uFillTx/>
                <a:latin typeface="Calibri"/>
              </a:defRPr>
            </a:lvl7pPr>
          </a:lstStyle>
          <a:p>
            <a:pPr algn="l">
              <a:spcBef>
                <a:spcPts val="1417"/>
              </a:spcBef>
              <a:buClr>
                <a:srgbClr val="FFFFFF"/>
              </a:buClr>
              <a:buSzPct val="45000"/>
              <a:buFont typeface="Wingdings" charset="2"/>
              <a:buChar char=""/>
            </a:pPr>
            <a:r>
              <a:rPr lang="pt-PT" sz="1600" b="0" u="none" strike="noStrike">
                <a:solidFill>
                  <a:schemeClr val="dk1"/>
                </a:solidFill>
                <a:effectLst/>
                <a:uFillTx/>
                <a:latin typeface="Calibri"/>
              </a:rPr>
              <a:t>Clique para editar o formato de texto dos tópicos</a:t>
            </a:r>
            <a:endParaRPr lang="pt-PT" sz="1600" b="0" u="none" strike="noStrike">
              <a:solidFill>
                <a:schemeClr val="dk1"/>
              </a:solidFill>
              <a:effectLst/>
              <a:uFillTx/>
              <a:latin typeface="Calibri"/>
            </a:endParaRPr>
          </a:p>
          <a:p>
            <a:pPr marL="743040" lvl="1" indent="-285840" algn="l">
              <a:spcBef>
                <a:spcPts val="1134"/>
              </a:spcBef>
              <a:buClr>
                <a:srgbClr val="FFFFFF"/>
              </a:buClr>
              <a:buSzPct val="75000"/>
              <a:buFont typeface="Symbol" charset="2"/>
              <a:buChar char=""/>
            </a:pPr>
            <a:r>
              <a:rPr lang="pt-PT" sz="1600" b="0" u="none" strike="noStrike">
                <a:solidFill>
                  <a:schemeClr val="dk1"/>
                </a:solidFill>
                <a:effectLst/>
                <a:uFillTx/>
                <a:latin typeface="Calibri"/>
              </a:rPr>
              <a:t>Segundo nível de tópicos</a:t>
            </a:r>
            <a:endParaRPr lang="pt-PT" sz="1600" b="0" u="none" strike="noStrike">
              <a:solidFill>
                <a:schemeClr val="dk1"/>
              </a:solidFill>
              <a:effectLst/>
              <a:uFillTx/>
              <a:latin typeface="Calibri"/>
            </a:endParaRPr>
          </a:p>
          <a:p>
            <a:pPr marL="1143000" lvl="2" indent="-228600" algn="l">
              <a:spcBef>
                <a:spcPts val="850"/>
              </a:spcBef>
              <a:buClr>
                <a:srgbClr val="FFFFFF"/>
              </a:buClr>
              <a:buSzPct val="45000"/>
              <a:buFont typeface="Wingdings" charset="2"/>
              <a:buChar char=""/>
            </a:pPr>
            <a:r>
              <a:rPr lang="pt-PT" sz="1600" b="0" u="none" strike="noStrike">
                <a:solidFill>
                  <a:schemeClr val="dk1"/>
                </a:solidFill>
                <a:effectLst/>
                <a:uFillTx/>
                <a:latin typeface="Calibri"/>
              </a:rPr>
              <a:t>Terceiro nível de tópicos</a:t>
            </a:r>
            <a:endParaRPr lang="pt-PT" sz="1600" b="0" u="none" strike="noStrike">
              <a:solidFill>
                <a:schemeClr val="dk1"/>
              </a:solidFill>
              <a:effectLst/>
              <a:uFillTx/>
              <a:latin typeface="Calibri"/>
            </a:endParaRPr>
          </a:p>
          <a:p>
            <a:pPr marL="1600200" lvl="3" indent="-228600" algn="l">
              <a:spcBef>
                <a:spcPts val="567"/>
              </a:spcBef>
              <a:buClr>
                <a:srgbClr val="FFFFFF"/>
              </a:buClr>
              <a:buSzPct val="75000"/>
              <a:buFont typeface="Symbol" charset="2"/>
              <a:buChar char=""/>
            </a:pPr>
            <a:r>
              <a:rPr lang="pt-PT" sz="1600" b="0" u="none" strike="noStrike">
                <a:solidFill>
                  <a:schemeClr val="dk1"/>
                </a:solidFill>
                <a:effectLst/>
                <a:uFillTx/>
                <a:latin typeface="Calibri"/>
              </a:rPr>
              <a:t>Quarto nível de tópicos</a:t>
            </a:r>
            <a:endParaRPr lang="pt-PT" sz="1600" b="0" u="none" strike="noStrike">
              <a:solidFill>
                <a:schemeClr val="dk1"/>
              </a:solidFill>
              <a:effectLst/>
              <a:uFillTx/>
              <a:latin typeface="Calibri"/>
            </a:endParaRPr>
          </a:p>
          <a:p>
            <a:pPr marL="2057400" lvl="4" indent="-228600" algn="l">
              <a:spcBef>
                <a:spcPts val="283"/>
              </a:spcBef>
              <a:buClr>
                <a:srgbClr val="FFFFFF"/>
              </a:buClr>
              <a:buSzPct val="45000"/>
              <a:buFont typeface="Wingdings" charset="2"/>
              <a:buChar char=""/>
            </a:pPr>
            <a:r>
              <a:rPr lang="pt-PT" sz="1600" b="0" u="none" strike="noStrike">
                <a:solidFill>
                  <a:schemeClr val="dk1"/>
                </a:solidFill>
                <a:effectLst/>
                <a:uFillTx/>
                <a:latin typeface="Calibri"/>
              </a:rPr>
              <a:t>Quinto nível de tópicos</a:t>
            </a:r>
            <a:endParaRPr lang="pt-PT" sz="1600" b="0" u="none" strike="noStrike">
              <a:solidFill>
                <a:schemeClr val="dk1"/>
              </a:solidFill>
              <a:effectLst/>
              <a:uFillTx/>
              <a:latin typeface="Calibri"/>
            </a:endParaRPr>
          </a:p>
          <a:p>
            <a:pPr marL="2514600" lvl="5" indent="-228600" algn="l">
              <a:spcBef>
                <a:spcPts val="283"/>
              </a:spcBef>
              <a:buClr>
                <a:srgbClr val="FFFFFF"/>
              </a:buClr>
              <a:buSzPct val="45000"/>
              <a:buFont typeface="Wingdings" charset="2"/>
              <a:buChar char=""/>
            </a:pPr>
            <a:r>
              <a:rPr lang="pt-PT" sz="1600" b="0" u="none" strike="noStrike">
                <a:solidFill>
                  <a:schemeClr val="dk1"/>
                </a:solidFill>
                <a:effectLst/>
                <a:uFillTx/>
                <a:latin typeface="Calibri"/>
              </a:rPr>
              <a:t>Sexto nível de tópicos</a:t>
            </a:r>
            <a:endParaRPr lang="pt-PT" sz="1600" b="0" u="none" strike="noStrike">
              <a:solidFill>
                <a:schemeClr val="dk1"/>
              </a:solidFill>
              <a:effectLst/>
              <a:uFillTx/>
              <a:latin typeface="Calibri"/>
            </a:endParaRPr>
          </a:p>
          <a:p>
            <a:pPr marL="2971800" lvl="6" indent="-228600" algn="l">
              <a:spcBef>
                <a:spcPts val="283"/>
              </a:spcBef>
              <a:buClr>
                <a:srgbClr val="FFFFFF"/>
              </a:buClr>
              <a:buSzPct val="45000"/>
              <a:buFont typeface="Wingdings" charset="2"/>
              <a:buChar char=""/>
            </a:pPr>
            <a:r>
              <a:rPr lang="pt-PT" sz="1600" b="0" u="none" strike="noStrike">
                <a:solidFill>
                  <a:schemeClr val="dk1"/>
                </a:solidFill>
                <a:effectLst/>
                <a:uFillTx/>
                <a:latin typeface="Calibri"/>
              </a:rPr>
              <a:t>Sétimo nível de tópicos</a:t>
            </a:r>
            <a:endParaRPr lang="pt-PT" sz="1600" b="0" u="none" strike="noStrike">
              <a:solidFill>
                <a:schemeClr val="dk1"/>
              </a:solidFill>
              <a:effectLst/>
              <a:uFillTx/>
              <a:latin typeface="Calibri"/>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p:bg>
      <p:bgPr>
        <a:solidFill>
          <a:schemeClr val="lt1"/>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548640" y="365760"/>
            <a:ext cx="11091240" cy="731160"/>
          </a:xfrm>
          <a:prstGeom prst="rect">
            <a:avLst/>
          </a:prstGeom>
          <a:noFill/>
          <a:ln w="0">
            <a:noFill/>
          </a:ln>
        </p:spPr>
        <p:txBody>
          <a:bodyPr lIns="90000" tIns="45000" rIns="90000" bIns="45000" anchor="t">
            <a:noAutofit/>
          </a:bodyPr>
          <a:lstStyle>
            <a:lvl1pPr indent="0" algn="l">
              <a:buNone/>
              <a:defRPr lang="pt-PT" sz="3400" b="0" u="none" strike="noStrike">
                <a:solidFill>
                  <a:schemeClr val="dk1"/>
                </a:solidFill>
                <a:effectLst/>
                <a:uFillTx/>
                <a:latin typeface="Calibri"/>
              </a:defRPr>
            </a:lvl1pPr>
          </a:lstStyle>
          <a:p>
            <a:pPr indent="0" algn="l">
              <a:buNone/>
            </a:pPr>
            <a:r>
              <a:rPr lang="pt-PT" sz="3400" b="0" u="none" strike="noStrike">
                <a:solidFill>
                  <a:schemeClr val="dk1"/>
                </a:solidFill>
                <a:effectLst/>
                <a:uFillTx/>
                <a:latin typeface="Calibri"/>
              </a:rPr>
              <a:t>Clique para editar o formato do título</a:t>
            </a:r>
            <a:endParaRPr lang="pt-PT" sz="3400" b="0" u="none" strike="noStrike">
              <a:solidFill>
                <a:schemeClr val="dk1"/>
              </a:solidFill>
              <a:effectLst/>
              <a:uFillTx/>
              <a:latin typeface="Calibri"/>
            </a:endParaRPr>
          </a:p>
        </p:txBody>
      </p:sp>
      <p:sp>
        <p:nvSpPr>
          <p:cNvPr id="6" name="Text 0"/>
          <p:cNvSpPr/>
          <p:nvPr/>
        </p:nvSpPr>
        <p:spPr>
          <a:xfrm>
            <a:off x="548640" y="6419160"/>
            <a:ext cx="54860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chemeClr val="accent6"/>
                </a:solidFill>
                <a:effectLst/>
                <a:uFillTx/>
                <a:latin typeface="Calibri"/>
              </a:rPr>
              <a:t>Calculate Profit · Francisco Conceição</a:t>
            </a:r>
            <a:endParaRPr lang="pt-PT" sz="1000" b="0" u="none" strike="noStrike">
              <a:solidFill>
                <a:srgbClr val="000000"/>
              </a:solidFill>
              <a:effectLst/>
              <a:uFillTx/>
              <a:latin typeface="Arial"/>
            </a:endParaRPr>
          </a:p>
        </p:txBody>
      </p:sp>
      <p:sp>
        <p:nvSpPr>
          <p:cNvPr id="7" name="PlaceHolder 2"/>
          <p:cNvSpPr>
            <a:spLocks noGrp="1"/>
          </p:cNvSpPr>
          <p:nvPr>
            <p:ph type="sldNum" idx="1"/>
          </p:nvPr>
        </p:nvSpPr>
        <p:spPr>
          <a:xfrm>
            <a:off x="11183040" y="6419160"/>
            <a:ext cx="456840" cy="273960"/>
          </a:xfrm>
          <a:prstGeom prst="rect">
            <a:avLst/>
          </a:prstGeom>
          <a:noFill/>
          <a:ln w="0">
            <a:noFill/>
          </a:ln>
        </p:spPr>
        <p:txBody>
          <a:bodyPr lIns="0" tIns="0" rIns="0" bIns="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0D73C4C6-8C3A-45C5-A4C8-78DA6852E56B}" type="slidenum">
              <a:rPr lang="en-US" sz="1000" b="0" u="none" strike="noStrike">
                <a:solidFill>
                  <a:schemeClr val="accent6"/>
                </a:solidFill>
                <a:effectLst/>
                <a:uFillTx/>
                <a:latin typeface="Calibri"/>
              </a:rPr>
              <a:t>10</a:t>
            </a:fld>
            <a:endParaRPr lang="pt-PT" sz="1000" b="0" u="none" strike="noStrike">
              <a:solidFill>
                <a:srgbClr val="000000"/>
              </a:solidFill>
              <a:effectLst/>
              <a:uFillTx/>
              <a:latin typeface="Times New Roman"/>
            </a:endParaRPr>
          </a:p>
        </p:txBody>
      </p:sp>
      <p:sp>
        <p:nvSpPr>
          <p:cNvPr id="8"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pt-PT"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pt-PT"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pt-PT"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pt-PT"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pt-PT"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pt-PT"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pt-PT"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pt-PT" sz="3200" b="0" u="none" strike="noStrike">
                <a:solidFill>
                  <a:schemeClr val="dk1"/>
                </a:solidFill>
                <a:effectLst/>
                <a:uFillTx/>
                <a:latin typeface="Calibri"/>
              </a:rPr>
              <a:t>Clique para editar o formato de texto dos tópicos</a:t>
            </a:r>
            <a:endParaRPr lang="pt-PT"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pt-PT" sz="2400" b="0" u="none" strike="noStrike">
                <a:solidFill>
                  <a:schemeClr val="dk1"/>
                </a:solidFill>
                <a:effectLst/>
                <a:uFillTx/>
                <a:latin typeface="Calibri"/>
              </a:rPr>
              <a:t>Segundo nível de tópicos</a:t>
            </a:r>
            <a:endParaRPr lang="pt-PT"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pt-PT" sz="2000" b="0" u="none" strike="noStrike">
                <a:solidFill>
                  <a:schemeClr val="dk1"/>
                </a:solidFill>
                <a:effectLst/>
                <a:uFillTx/>
                <a:latin typeface="Calibri"/>
              </a:rPr>
              <a:t>Terceiro nível de tópicos</a:t>
            </a:r>
            <a:endParaRPr lang="pt-PT"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pt-PT" sz="2000" b="0" u="none" strike="noStrike">
                <a:solidFill>
                  <a:schemeClr val="dk1"/>
                </a:solidFill>
                <a:effectLst/>
                <a:uFillTx/>
                <a:latin typeface="Calibri"/>
              </a:rPr>
              <a:t>Quarto nível de tópicos</a:t>
            </a:r>
            <a:endParaRPr lang="pt-PT"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pt-PT" sz="2000" b="0" u="none" strike="noStrike">
                <a:solidFill>
                  <a:schemeClr val="dk1"/>
                </a:solidFill>
                <a:effectLst/>
                <a:uFillTx/>
                <a:latin typeface="Calibri"/>
              </a:rPr>
              <a:t>Quinto nível de tópicos</a:t>
            </a:r>
            <a:endParaRPr lang="pt-PT"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pt-PT" sz="2000" b="0" u="none" strike="noStrike">
                <a:solidFill>
                  <a:schemeClr val="dk1"/>
                </a:solidFill>
                <a:effectLst/>
                <a:uFillTx/>
                <a:latin typeface="Calibri"/>
              </a:rPr>
              <a:t>Sexto nível de tópicos</a:t>
            </a:r>
            <a:endParaRPr lang="pt-PT"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pt-PT" sz="2000" b="0" u="none" strike="noStrike">
                <a:solidFill>
                  <a:schemeClr val="dk1"/>
                </a:solidFill>
                <a:effectLst/>
                <a:uFillTx/>
                <a:latin typeface="Calibri"/>
              </a:rPr>
              <a:t>Sétimo nível de tópicos</a:t>
            </a:r>
            <a:endParaRPr lang="pt-PT" sz="2000" b="0" u="none" strike="noStrike">
              <a:solidFill>
                <a:schemeClr val="dk1"/>
              </a:solidFill>
              <a:effectLst/>
              <a:uFillTx/>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LOSING">
    <p:bg>
      <p:bgPr>
        <a:solidFill>
          <a:schemeClr val="dk2"/>
        </a:solidFill>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548640" y="365760"/>
            <a:ext cx="11091240" cy="731160"/>
          </a:xfrm>
          <a:prstGeom prst="rect">
            <a:avLst/>
          </a:prstGeom>
          <a:noFill/>
          <a:ln w="0">
            <a:noFill/>
          </a:ln>
        </p:spPr>
        <p:txBody>
          <a:bodyPr lIns="90000" tIns="45000" rIns="90000" bIns="45000" anchor="t">
            <a:noAutofit/>
          </a:bodyPr>
          <a:lstStyle>
            <a:lvl1pPr indent="0" algn="l">
              <a:buNone/>
              <a:defRPr lang="pt-PT" sz="3400" b="0" u="none" strike="noStrike">
                <a:solidFill>
                  <a:schemeClr val="dk1"/>
                </a:solidFill>
                <a:effectLst/>
                <a:uFillTx/>
                <a:latin typeface="Calibri"/>
              </a:defRPr>
            </a:lvl1pPr>
          </a:lstStyle>
          <a:p>
            <a:pPr indent="0" algn="l">
              <a:buNone/>
            </a:pPr>
            <a:r>
              <a:rPr lang="pt-PT" sz="3400" b="0" u="none" strike="noStrike">
                <a:solidFill>
                  <a:schemeClr val="dk1"/>
                </a:solidFill>
                <a:effectLst/>
                <a:uFillTx/>
                <a:latin typeface="Calibri"/>
              </a:rPr>
              <a:t>Clique para editar o formato do título</a:t>
            </a:r>
            <a:endParaRPr lang="pt-PT" sz="3400" b="0" u="none" strike="noStrike">
              <a:solidFill>
                <a:schemeClr val="dk1"/>
              </a:solidFill>
              <a:effectLst/>
              <a:uFillTx/>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3.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 name="PlaceHolder 1"/>
          <p:cNvSpPr>
            <a:spLocks noGrp="1"/>
          </p:cNvSpPr>
          <p:nvPr>
            <p:ph type="title" hasCustomPrompt="1"/>
          </p:nvPr>
        </p:nvSpPr>
        <p:spPr>
          <a:xfrm>
            <a:off x="731520" y="1828800"/>
            <a:ext cx="5760360" cy="1096920"/>
          </a:xfrm>
          <a:prstGeom prst="rect">
            <a:avLst/>
          </a:prstGeom>
          <a:noFill/>
          <a:ln w="0">
            <a:noFill/>
          </a:ln>
        </p:spPr>
        <p:txBody>
          <a:bodyPr lIns="0" tIns="0" rIns="0" bIns="0" anchor="b">
            <a:noAutofit/>
          </a:bodyPr>
          <a:p>
            <a:pPr indent="0" algn="l" defTabSz="914400">
              <a:lnSpc>
                <a:spcPct val="100000"/>
              </a:lnSpc>
              <a:buNone/>
              <a:tabLst>
                <a:tab pos="0" algn="l"/>
              </a:tabLst>
            </a:pPr>
            <a:r>
              <a:rPr lang="en-US" sz="5400" b="1" u="none" strike="noStrike">
                <a:solidFill>
                  <a:schemeClr val="lt1"/>
                </a:solidFill>
                <a:effectLst/>
                <a:uFillTx/>
                <a:latin typeface="Calibri"/>
              </a:rPr>
              <a:t>Calculate Profit</a:t>
            </a:r>
            <a:endParaRPr lang="pt-PT" sz="5400" b="0" u="none" strike="noStrike">
              <a:solidFill>
                <a:schemeClr val="dk1"/>
              </a:solidFill>
              <a:effectLst/>
              <a:uFillTx/>
              <a:latin typeface="Calibri"/>
            </a:endParaRPr>
          </a:p>
        </p:txBody>
      </p:sp>
      <p:sp>
        <p:nvSpPr>
          <p:cNvPr id="17" name="PlaceHolder 2"/>
          <p:cNvSpPr>
            <a:spLocks noGrp="1"/>
          </p:cNvSpPr>
          <p:nvPr>
            <p:ph hasCustomPrompt="1"/>
          </p:nvPr>
        </p:nvSpPr>
        <p:spPr>
          <a:xfrm>
            <a:off x="731520" y="3063240"/>
            <a:ext cx="5760360" cy="914040"/>
          </a:xfrm>
          <a:prstGeom prst="rect">
            <a:avLst/>
          </a:prstGeom>
          <a:noFill/>
          <a:ln w="0">
            <a:noFill/>
          </a:ln>
        </p:spPr>
        <p:txBody>
          <a:bodyPr lIns="0" tIns="0" rIns="0" bIns="0" anchor="t">
            <a:noAutofit/>
          </a:bodyPr>
          <a:p>
            <a:pPr indent="0" algn="l" defTabSz="914400">
              <a:lnSpc>
                <a:spcPct val="100000"/>
              </a:lnSpc>
              <a:spcBef>
                <a:spcPts val="439"/>
              </a:spcBef>
              <a:buNone/>
              <a:tabLst>
                <a:tab pos="0" algn="l"/>
              </a:tabLst>
            </a:pPr>
            <a:r>
              <a:rPr lang="en-US" sz="2200" b="0" u="none" strike="noStrike">
                <a:solidFill>
                  <a:schemeClr val="accent1"/>
                </a:solidFill>
                <a:effectLst/>
                <a:uFillTx/>
                <a:latin typeface="Calibri"/>
              </a:rPr>
              <a:t>Profit or loss for every shipment, built with Angular and Spring Boot</a:t>
            </a:r>
            <a:endParaRPr lang="pt-PT" sz="2200" b="0" u="none" strike="noStrike">
              <a:solidFill>
                <a:schemeClr val="dk1"/>
              </a:solidFill>
              <a:effectLst/>
              <a:uFillTx/>
              <a:latin typeface="Calibri"/>
            </a:endParaRPr>
          </a:p>
        </p:txBody>
      </p:sp>
      <p:sp>
        <p:nvSpPr>
          <p:cNvPr id="18" name="PlaceHolder 3"/>
          <p:cNvSpPr>
            <a:spLocks noGrp="1"/>
          </p:cNvSpPr>
          <p:nvPr>
            <p:ph hasCustomPrompt="1"/>
          </p:nvPr>
        </p:nvSpPr>
        <p:spPr>
          <a:xfrm>
            <a:off x="731520" y="4983480"/>
            <a:ext cx="10515240" cy="822600"/>
          </a:xfrm>
          <a:prstGeom prst="rect">
            <a:avLst/>
          </a:prstGeom>
          <a:noFill/>
          <a:ln w="0">
            <a:noFill/>
          </a:ln>
        </p:spPr>
        <p:txBody>
          <a:bodyPr lIns="0" tIns="0" rIns="0" bIns="0" anchor="t">
            <a:noAutofit/>
          </a:bodyPr>
          <a:p>
            <a:pPr indent="0" algn="l" defTabSz="914400">
              <a:lnSpc>
                <a:spcPct val="100000"/>
              </a:lnSpc>
              <a:spcBef>
                <a:spcPts val="320"/>
              </a:spcBef>
              <a:buNone/>
              <a:tabLst>
                <a:tab pos="0" algn="l"/>
              </a:tabLst>
            </a:pPr>
            <a:r>
              <a:rPr lang="en-US" sz="1600" b="1" u="none" strike="noStrike">
                <a:solidFill>
                  <a:schemeClr val="lt1"/>
                </a:solidFill>
                <a:effectLst/>
                <a:uFillTx/>
                <a:latin typeface="Calibri"/>
              </a:rPr>
              <a:t>Francisco Conceição</a:t>
            </a:r>
            <a:endParaRPr lang="pt-PT" sz="1600" b="0" u="none" strike="noStrike">
              <a:solidFill>
                <a:schemeClr val="dk1"/>
              </a:solidFill>
              <a:effectLst/>
              <a:uFillTx/>
              <a:latin typeface="Calibri"/>
            </a:endParaRPr>
          </a:p>
          <a:p>
            <a:pPr indent="0" algn="l" defTabSz="914400">
              <a:lnSpc>
                <a:spcPct val="100000"/>
              </a:lnSpc>
              <a:spcBef>
                <a:spcPts val="320"/>
              </a:spcBef>
              <a:buNone/>
              <a:tabLst>
                <a:tab pos="0" algn="l"/>
              </a:tabLst>
            </a:pPr>
            <a:r>
              <a:rPr lang="en-US" sz="1600" b="0" u="none" strike="noStrike">
                <a:solidFill>
                  <a:schemeClr val="lt1"/>
                </a:solidFill>
                <a:effectLst/>
                <a:uFillTx/>
                <a:latin typeface="Calibri"/>
              </a:rPr>
              <a:t>Software Engineer technical exercise · DACHSER Corporate IT Hub Porto</a:t>
            </a:r>
            <a:endParaRPr lang="pt-PT" sz="1600" b="0" u="none" strike="noStrike">
              <a:solidFill>
                <a:schemeClr val="dk1"/>
              </a:solidFill>
              <a:effectLst/>
              <a:uFillTx/>
              <a:latin typeface="Calibri"/>
            </a:endParaRPr>
          </a:p>
        </p:txBody>
      </p:sp>
      <p:sp>
        <p:nvSpPr>
          <p:cNvPr id="19" name="Accent block"/>
          <p:cNvSpPr/>
          <p:nvPr/>
        </p:nvSpPr>
        <p:spPr>
          <a:xfrm>
            <a:off x="7086600" y="1874520"/>
            <a:ext cx="4663080" cy="2363400"/>
          </a:xfrm>
          <a:prstGeom prst="roundRect">
            <a:avLst>
              <a:gd name="adj" fmla="val 3868"/>
            </a:avLst>
          </a:prstGeom>
          <a:solidFill>
            <a:schemeClr val="accent1"/>
          </a:solidFill>
          <a:ln w="0">
            <a:noFill/>
          </a:ln>
        </p:spPr>
        <p:style>
          <a:lnRef idx="0"/>
          <a:fillRef idx="0"/>
          <a:effectRef idx="0"/>
          <a:fontRef idx="minor"/>
        </p:style>
        <p:txBody>
          <a:bodyPr lIns="90000" tIns="45000" rIns="90000" bIns="45000" anchor="t">
            <a:noAutofit/>
          </a:bodyPr>
          <a:p>
            <a:endParaRPr lang="pt-PT" sz="1800" b="0" u="none" strike="noStrike">
              <a:solidFill>
                <a:srgbClr val="000000"/>
              </a:solidFill>
              <a:effectLst/>
              <a:uFillTx/>
              <a:latin typeface="Arial"/>
            </a:endParaRPr>
          </a:p>
        </p:txBody>
      </p:sp>
      <p:pic>
        <p:nvPicPr>
          <p:cNvPr id="20" name="App screenshot" descr="Calculate Profit page of the application"/>
          <p:cNvPicPr/>
          <p:nvPr/>
        </p:nvPicPr>
        <p:blipFill>
          <a:blip r:embed="rId1"/>
          <a:stretch/>
        </p:blipFill>
        <p:spPr>
          <a:xfrm>
            <a:off x="6812280" y="2148840"/>
            <a:ext cx="4663080" cy="236340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 name="PlaceHolder 1"/>
          <p:cNvSpPr>
            <a:spLocks noGrp="1"/>
          </p:cNvSpPr>
          <p:nvPr>
            <p:ph type="title" hasCustomPrompt="1"/>
          </p:nvPr>
        </p:nvSpPr>
        <p:spPr>
          <a:xfrm>
            <a:off x="548640" y="365760"/>
            <a:ext cx="1109124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400" b="1" u="none" strike="noStrike">
                <a:solidFill>
                  <a:schemeClr val="dk2"/>
                </a:solidFill>
                <a:effectLst/>
                <a:uFillTx/>
                <a:latin typeface="Calibri"/>
              </a:rPr>
              <a:t>The problem and the goal</a:t>
            </a:r>
            <a:endParaRPr lang="pt-PT" sz="3400" b="0" u="none" strike="noStrike">
              <a:solidFill>
                <a:schemeClr val="dk1"/>
              </a:solidFill>
              <a:effectLst/>
              <a:uFillTx/>
              <a:latin typeface="Calibri"/>
            </a:endParaRPr>
          </a:p>
        </p:txBody>
      </p:sp>
      <p:sp>
        <p:nvSpPr>
          <p:cNvPr id="22" name="Need label"/>
          <p:cNvSpPr/>
          <p:nvPr/>
        </p:nvSpPr>
        <p:spPr>
          <a:xfrm>
            <a:off x="548640" y="1371600"/>
            <a:ext cx="53946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201" strike="noStrike">
                <a:solidFill>
                  <a:schemeClr val="accent6"/>
                </a:solidFill>
                <a:effectLst/>
                <a:uFillTx/>
                <a:latin typeface="Calibri"/>
              </a:rPr>
              <a:t>BUSINESS NEED</a:t>
            </a:r>
            <a:endParaRPr lang="pt-PT" sz="1200" b="0" u="none" strike="noStrike">
              <a:solidFill>
                <a:srgbClr val="000000"/>
              </a:solidFill>
              <a:effectLst/>
              <a:uFillTx/>
              <a:latin typeface="Arial"/>
            </a:endParaRPr>
          </a:p>
        </p:txBody>
      </p:sp>
      <p:sp>
        <p:nvSpPr>
          <p:cNvPr id="23" name="Need statement"/>
          <p:cNvSpPr/>
          <p:nvPr/>
        </p:nvSpPr>
        <p:spPr>
          <a:xfrm>
            <a:off x="548640" y="1691640"/>
            <a:ext cx="5394600" cy="914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000" b="0" u="none" strike="noStrike">
                <a:solidFill>
                  <a:schemeClr val="dk1"/>
                </a:solidFill>
                <a:effectLst/>
                <a:uFillTx/>
                <a:latin typeface="Calibri"/>
              </a:rPr>
              <a:t>The Finance Department needs to know whether each shipment made a profit or a loss.</a:t>
            </a:r>
            <a:endParaRPr lang="pt-PT" sz="2000" b="0" u="none" strike="noStrike">
              <a:solidFill>
                <a:srgbClr val="000000"/>
              </a:solidFill>
              <a:effectLst/>
              <a:uFillTx/>
              <a:latin typeface="Arial"/>
            </a:endParaRPr>
          </a:p>
        </p:txBody>
      </p:sp>
      <p:sp>
        <p:nvSpPr>
          <p:cNvPr id="24" name="Scope list"/>
          <p:cNvSpPr/>
          <p:nvPr/>
        </p:nvSpPr>
        <p:spPr>
          <a:xfrm>
            <a:off x="548640" y="2743200"/>
            <a:ext cx="5394600" cy="1188360"/>
          </a:xfrm>
          <a:prstGeom prst="rect">
            <a:avLst/>
          </a:prstGeom>
          <a:noFill/>
          <a:ln w="0">
            <a:noFill/>
          </a:ln>
        </p:spPr>
        <p:style>
          <a:lnRef idx="0"/>
          <a:fillRef idx="0"/>
          <a:effectRef idx="0"/>
          <a:fontRef idx="minor"/>
        </p:style>
        <p:txBody>
          <a:bodyPr lIns="0" tIns="0" rIns="0" bIns="0" anchor="t">
            <a:noAutofit/>
          </a:bodyPr>
          <a:p>
            <a:pPr marL="228600" indent="-228600" defTabSz="914400">
              <a:lnSpc>
                <a:spcPct val="100000"/>
              </a:lnSpc>
              <a:spcAft>
                <a:spcPts val="601"/>
              </a:spcAft>
              <a:buClr>
                <a:srgbClr val="1B2733"/>
              </a:buClr>
              <a:buFont typeface="Symbol" charset="2"/>
              <a:buChar char=""/>
            </a:pPr>
            <a:r>
              <a:rPr lang="en-US" sz="1600" b="0" u="none" strike="noStrike">
                <a:solidFill>
                  <a:schemeClr val="dk1"/>
                </a:solidFill>
                <a:effectLst/>
                <a:uFillTx/>
                <a:latin typeface="Calibri"/>
              </a:rPr>
              <a:t>Pick a shipment</a:t>
            </a:r>
            <a:endParaRPr lang="pt-PT" sz="1600" b="0" u="none" strike="noStrike">
              <a:solidFill>
                <a:srgbClr val="000000"/>
              </a:solidFill>
              <a:effectLst/>
              <a:uFillTx/>
              <a:latin typeface="Arial"/>
            </a:endParaRPr>
          </a:p>
          <a:p>
            <a:pPr marL="228600" indent="-228600" defTabSz="914400">
              <a:lnSpc>
                <a:spcPct val="100000"/>
              </a:lnSpc>
              <a:spcAft>
                <a:spcPts val="601"/>
              </a:spcAft>
              <a:buClr>
                <a:srgbClr val="1B2733"/>
              </a:buClr>
              <a:buFont typeface="Symbol" charset="2"/>
              <a:buChar char=""/>
            </a:pPr>
            <a:r>
              <a:rPr lang="en-US" sz="1600" b="0" u="none" strike="noStrike">
                <a:solidFill>
                  <a:schemeClr val="dk1"/>
                </a:solidFill>
                <a:effectLst/>
                <a:uFillTx/>
                <a:latin typeface="Calibri"/>
              </a:rPr>
              <a:t>Enter income, cost and an optional additional cost</a:t>
            </a:r>
            <a:endParaRPr lang="pt-PT" sz="1600" b="0" u="none" strike="noStrike">
              <a:solidFill>
                <a:srgbClr val="000000"/>
              </a:solidFill>
              <a:effectLst/>
              <a:uFillTx/>
              <a:latin typeface="Arial"/>
            </a:endParaRPr>
          </a:p>
          <a:p>
            <a:pPr marL="228600" indent="-228600" defTabSz="914400">
              <a:lnSpc>
                <a:spcPct val="100000"/>
              </a:lnSpc>
              <a:spcAft>
                <a:spcPts val="601"/>
              </a:spcAft>
              <a:buClr>
                <a:srgbClr val="1B2733"/>
              </a:buClr>
              <a:buFont typeface="Symbol" charset="2"/>
              <a:buChar char=""/>
            </a:pPr>
            <a:r>
              <a:rPr lang="en-US" sz="1600" b="0" u="none" strike="noStrike">
                <a:solidFill>
                  <a:schemeClr val="dk1"/>
                </a:solidFill>
                <a:effectLst/>
                <a:uFillTx/>
                <a:latin typeface="Calibri"/>
              </a:rPr>
              <a:t>See the result and keep a history of every calculation</a:t>
            </a:r>
            <a:endParaRPr lang="pt-PT" sz="1600" b="0" u="none" strike="noStrike">
              <a:solidFill>
                <a:srgbClr val="000000"/>
              </a:solidFill>
              <a:effectLst/>
              <a:uFillTx/>
              <a:latin typeface="Arial"/>
            </a:endParaRPr>
          </a:p>
        </p:txBody>
      </p:sp>
      <p:sp>
        <p:nvSpPr>
          <p:cNvPr id="25" name="Rule card"/>
          <p:cNvSpPr/>
          <p:nvPr/>
        </p:nvSpPr>
        <p:spPr>
          <a:xfrm>
            <a:off x="6309360" y="1371600"/>
            <a:ext cx="5330520" cy="2605680"/>
          </a:xfrm>
          <a:prstGeom prst="roundRect">
            <a:avLst>
              <a:gd name="adj" fmla="val 4211"/>
            </a:avLst>
          </a:prstGeom>
          <a:solidFill>
            <a:schemeClr val="bg2"/>
          </a:solidFill>
          <a:ln w="0">
            <a:noFill/>
          </a:ln>
        </p:spPr>
        <p:style>
          <a:lnRef idx="0"/>
          <a:fillRef idx="0"/>
          <a:effectRef idx="0"/>
          <a:fontRef idx="minor"/>
        </p:style>
        <p:txBody>
          <a:bodyPr lIns="90000" tIns="45000" rIns="90000" bIns="45000" anchor="t">
            <a:noAutofit/>
          </a:bodyPr>
          <a:p>
            <a:endParaRPr lang="pt-PT" sz="1800" b="0" u="none" strike="noStrike">
              <a:solidFill>
                <a:srgbClr val="000000"/>
              </a:solidFill>
              <a:effectLst/>
              <a:uFillTx/>
              <a:latin typeface="Arial"/>
            </a:endParaRPr>
          </a:p>
        </p:txBody>
      </p:sp>
      <p:sp>
        <p:nvSpPr>
          <p:cNvPr id="26" name="Rule label"/>
          <p:cNvSpPr/>
          <p:nvPr/>
        </p:nvSpPr>
        <p:spPr>
          <a:xfrm>
            <a:off x="6583680" y="1600200"/>
            <a:ext cx="48459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201" strike="noStrike">
                <a:solidFill>
                  <a:schemeClr val="accent6"/>
                </a:solidFill>
                <a:effectLst/>
                <a:uFillTx/>
                <a:latin typeface="Calibri"/>
              </a:rPr>
              <a:t>THE RULE</a:t>
            </a:r>
            <a:endParaRPr lang="pt-PT" sz="1200" b="0" u="none" strike="noStrike">
              <a:solidFill>
                <a:srgbClr val="000000"/>
              </a:solidFill>
              <a:effectLst/>
              <a:uFillTx/>
              <a:latin typeface="Arial"/>
            </a:endParaRPr>
          </a:p>
        </p:txBody>
      </p:sp>
      <p:sp>
        <p:nvSpPr>
          <p:cNvPr id="27" name="Formula"/>
          <p:cNvSpPr/>
          <p:nvPr/>
        </p:nvSpPr>
        <p:spPr>
          <a:xfrm>
            <a:off x="6583680" y="1965960"/>
            <a:ext cx="4845960" cy="1188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chemeClr val="dk1"/>
                </a:solidFill>
                <a:effectLst/>
                <a:uFillTx/>
                <a:latin typeface="Calibri"/>
              </a:rPr>
              <a:t>Profit = </a:t>
            </a:r>
            <a:r>
              <a:rPr lang="en-US" sz="2800" b="1" u="none" strike="noStrike">
                <a:solidFill>
                  <a:schemeClr val="accent2"/>
                </a:solidFill>
                <a:effectLst/>
                <a:uFillTx/>
                <a:latin typeface="Calibri"/>
              </a:rPr>
              <a:t>Income</a:t>
            </a:r>
            <a:endParaRPr lang="pt-PT" sz="2800" b="0" u="none" strike="noStrike">
              <a:solidFill>
                <a:srgbClr val="000000"/>
              </a:solidFill>
              <a:effectLst/>
              <a:uFillTx/>
              <a:latin typeface="Arial"/>
            </a:endParaRPr>
          </a:p>
          <a:p>
            <a:pPr defTabSz="914400">
              <a:lnSpc>
                <a:spcPct val="100000"/>
              </a:lnSpc>
              <a:tabLst>
                <a:tab pos="0" algn="l"/>
              </a:tabLst>
            </a:pPr>
            <a:r>
              <a:rPr lang="en-US" sz="2800" b="1" u="none" strike="noStrike">
                <a:solidFill>
                  <a:schemeClr val="dk1"/>
                </a:solidFill>
                <a:effectLst/>
                <a:uFillTx/>
                <a:latin typeface="Calibri"/>
              </a:rPr>
              <a:t>− (</a:t>
            </a:r>
            <a:r>
              <a:rPr lang="en-US" sz="2800" b="1" u="none" strike="noStrike">
                <a:solidFill>
                  <a:schemeClr val="accent3"/>
                </a:solidFill>
                <a:effectLst/>
                <a:uFillTx/>
                <a:latin typeface="Calibri"/>
              </a:rPr>
              <a:t>Cost + Additional cost</a:t>
            </a:r>
            <a:r>
              <a:rPr lang="en-US" sz="2800" b="1" u="none" strike="noStrike">
                <a:solidFill>
                  <a:schemeClr val="dk1"/>
                </a:solidFill>
                <a:effectLst/>
                <a:uFillTx/>
                <a:latin typeface="Calibri"/>
              </a:rPr>
              <a:t>)</a:t>
            </a:r>
            <a:endParaRPr lang="pt-PT" sz="2800" b="0" u="none" strike="noStrike">
              <a:solidFill>
                <a:srgbClr val="000000"/>
              </a:solidFill>
              <a:effectLst/>
              <a:uFillTx/>
              <a:latin typeface="Arial"/>
            </a:endParaRPr>
          </a:p>
        </p:txBody>
      </p:sp>
      <p:sp>
        <p:nvSpPr>
          <p:cNvPr id="28" name="Formula note"/>
          <p:cNvSpPr/>
          <p:nvPr/>
        </p:nvSpPr>
        <p:spPr>
          <a:xfrm>
            <a:off x="6583680" y="3291840"/>
            <a:ext cx="484596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i="1" u="none" strike="noStrike">
                <a:solidFill>
                  <a:schemeClr val="accent6"/>
                </a:solidFill>
                <a:effectLst/>
                <a:uFillTx/>
                <a:latin typeface="Calibri"/>
              </a:rPr>
              <a:t>A negative result is a loss and is shown in red.</a:t>
            </a:r>
            <a:endParaRPr lang="pt-PT" sz="1500" b="0" u="none" strike="noStrike">
              <a:solidFill>
                <a:srgbClr val="000000"/>
              </a:solidFill>
              <a:effectLst/>
              <a:uFillTx/>
              <a:latin typeface="Arial"/>
            </a:endParaRPr>
          </a:p>
        </p:txBody>
      </p:sp>
      <p:sp>
        <p:nvSpPr>
          <p:cNvPr id="29" name="Backend card"/>
          <p:cNvSpPr/>
          <p:nvPr/>
        </p:nvSpPr>
        <p:spPr>
          <a:xfrm>
            <a:off x="548640" y="4343400"/>
            <a:ext cx="5440320" cy="1508400"/>
          </a:xfrm>
          <a:prstGeom prst="roundRect">
            <a:avLst>
              <a:gd name="adj" fmla="val 7273"/>
            </a:avLst>
          </a:prstGeom>
          <a:solidFill>
            <a:schemeClr val="bg1"/>
          </a:solidFill>
          <a:ln w="12700">
            <a:solidFill>
              <a:srgbClr val="D5DCE4"/>
            </a:solidFill>
            <a:round/>
          </a:ln>
          <a:effectLst>
            <a:outerShdw algn="bl" blurRad="76320" dir="5400000" dist="25560" kx="0" ky="0" rotWithShape="0" sx="100000" sy="100000">
              <a:srgbClr val="0B1A2A">
                <a:alpha val="14000"/>
              </a:srgbClr>
            </a:outerShdw>
          </a:effectLst>
        </p:spPr>
        <p:style>
          <a:lnRef idx="0"/>
          <a:fillRef idx="0"/>
          <a:effectRef idx="0"/>
          <a:fontRef idx="minor"/>
        </p:style>
        <p:txBody>
          <a:bodyPr lIns="90000" tIns="45000" rIns="90000" bIns="45000" anchor="t">
            <a:noAutofit/>
          </a:bodyPr>
          <a:p>
            <a:endParaRPr lang="pt-PT" sz="1800" b="0" u="none" strike="noStrike">
              <a:solidFill>
                <a:srgbClr val="000000"/>
              </a:solidFill>
              <a:effectLst/>
              <a:uFillTx/>
              <a:latin typeface="Arial"/>
            </a:endParaRPr>
          </a:p>
        </p:txBody>
      </p:sp>
      <p:sp>
        <p:nvSpPr>
          <p:cNvPr id="30" name="Backend badge"/>
          <p:cNvSpPr/>
          <p:nvPr/>
        </p:nvSpPr>
        <p:spPr>
          <a:xfrm>
            <a:off x="822960" y="4617720"/>
            <a:ext cx="594000" cy="594000"/>
          </a:xfrm>
          <a:prstGeom prst="ellipse">
            <a:avLst/>
          </a:prstGeom>
          <a:solidFill>
            <a:schemeClr val="accent5"/>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chemeClr val="lt1"/>
                </a:solidFill>
                <a:effectLst/>
                <a:uFillTx/>
                <a:latin typeface="Calibri"/>
              </a:rPr>
              <a:t>API</a:t>
            </a:r>
            <a:endParaRPr lang="pt-PT" sz="1300" b="0" u="none" strike="noStrike">
              <a:solidFill>
                <a:srgbClr val="FFFFFF"/>
              </a:solidFill>
              <a:effectLst/>
              <a:uFillTx/>
              <a:latin typeface="Arial"/>
            </a:endParaRPr>
          </a:p>
        </p:txBody>
      </p:sp>
      <p:sp>
        <p:nvSpPr>
          <p:cNvPr id="31" name="Backend heading"/>
          <p:cNvSpPr/>
          <p:nvPr/>
        </p:nvSpPr>
        <p:spPr>
          <a:xfrm>
            <a:off x="1645920" y="4617720"/>
            <a:ext cx="4114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Calibri"/>
              </a:rPr>
              <a:t>Backend</a:t>
            </a:r>
            <a:endParaRPr lang="pt-PT" sz="1800" b="0" u="none" strike="noStrike">
              <a:solidFill>
                <a:srgbClr val="000000"/>
              </a:solidFill>
              <a:effectLst/>
              <a:uFillTx/>
              <a:latin typeface="Arial"/>
            </a:endParaRPr>
          </a:p>
        </p:txBody>
      </p:sp>
      <p:sp>
        <p:nvSpPr>
          <p:cNvPr id="32" name="Backend stack"/>
          <p:cNvSpPr/>
          <p:nvPr/>
        </p:nvSpPr>
        <p:spPr>
          <a:xfrm>
            <a:off x="1645920" y="5029200"/>
            <a:ext cx="4114440" cy="914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chemeClr val="dk1"/>
                </a:solidFill>
                <a:effectLst/>
                <a:uFillTx/>
                <a:latin typeface="Calibri"/>
              </a:rPr>
              <a:t>Java 17 · Spring Boot 3.1.5 · Spring Data JPA · Bean Validation · H2 in-memory database · Maven</a:t>
            </a:r>
            <a:endParaRPr lang="pt-PT" sz="1500" b="0" u="none" strike="noStrike">
              <a:solidFill>
                <a:srgbClr val="000000"/>
              </a:solidFill>
              <a:effectLst/>
              <a:uFillTx/>
              <a:latin typeface="Arial"/>
            </a:endParaRPr>
          </a:p>
        </p:txBody>
      </p:sp>
      <p:sp>
        <p:nvSpPr>
          <p:cNvPr id="33" name="Frontend card"/>
          <p:cNvSpPr/>
          <p:nvPr/>
        </p:nvSpPr>
        <p:spPr>
          <a:xfrm>
            <a:off x="6199560" y="4343400"/>
            <a:ext cx="5440320" cy="1508400"/>
          </a:xfrm>
          <a:prstGeom prst="roundRect">
            <a:avLst>
              <a:gd name="adj" fmla="val 7273"/>
            </a:avLst>
          </a:prstGeom>
          <a:solidFill>
            <a:schemeClr val="bg1"/>
          </a:solidFill>
          <a:ln w="12700">
            <a:solidFill>
              <a:srgbClr val="D5DCE4"/>
            </a:solidFill>
            <a:round/>
          </a:ln>
          <a:effectLst>
            <a:outerShdw algn="bl" blurRad="76320" dir="5400000" dist="25560" kx="0" ky="0" rotWithShape="0" sx="100000" sy="100000">
              <a:srgbClr val="0B1A2A">
                <a:alpha val="14000"/>
              </a:srgbClr>
            </a:outerShdw>
          </a:effectLst>
        </p:spPr>
        <p:style>
          <a:lnRef idx="0"/>
          <a:fillRef idx="0"/>
          <a:effectRef idx="0"/>
          <a:fontRef idx="minor"/>
        </p:style>
        <p:txBody>
          <a:bodyPr lIns="90000" tIns="45000" rIns="90000" bIns="45000" anchor="t">
            <a:noAutofit/>
          </a:bodyPr>
          <a:p>
            <a:endParaRPr lang="pt-PT" sz="1800" b="0" u="none" strike="noStrike">
              <a:solidFill>
                <a:srgbClr val="000000"/>
              </a:solidFill>
              <a:effectLst/>
              <a:uFillTx/>
              <a:latin typeface="Arial"/>
            </a:endParaRPr>
          </a:p>
        </p:txBody>
      </p:sp>
      <p:sp>
        <p:nvSpPr>
          <p:cNvPr id="34" name="Frontend badge"/>
          <p:cNvSpPr/>
          <p:nvPr/>
        </p:nvSpPr>
        <p:spPr>
          <a:xfrm>
            <a:off x="6473880" y="4617720"/>
            <a:ext cx="594000" cy="594000"/>
          </a:xfrm>
          <a:prstGeom prst="ellipse">
            <a:avLst/>
          </a:prstGeom>
          <a:solidFill>
            <a:schemeClr val="accent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chemeClr val="lt1"/>
                </a:solidFill>
                <a:effectLst/>
                <a:uFillTx/>
                <a:latin typeface="Calibri"/>
              </a:rPr>
              <a:t>UI</a:t>
            </a:r>
            <a:endParaRPr lang="pt-PT" sz="1300" b="0" u="none" strike="noStrike">
              <a:solidFill>
                <a:srgbClr val="FFFFFF"/>
              </a:solidFill>
              <a:effectLst/>
              <a:uFillTx/>
              <a:latin typeface="Arial"/>
            </a:endParaRPr>
          </a:p>
        </p:txBody>
      </p:sp>
      <p:sp>
        <p:nvSpPr>
          <p:cNvPr id="35" name="Frontend heading"/>
          <p:cNvSpPr/>
          <p:nvPr/>
        </p:nvSpPr>
        <p:spPr>
          <a:xfrm>
            <a:off x="7296840" y="4617720"/>
            <a:ext cx="4114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Calibri"/>
              </a:rPr>
              <a:t>Frontend</a:t>
            </a:r>
            <a:endParaRPr lang="pt-PT" sz="1800" b="0" u="none" strike="noStrike">
              <a:solidFill>
                <a:srgbClr val="000000"/>
              </a:solidFill>
              <a:effectLst/>
              <a:uFillTx/>
              <a:latin typeface="Arial"/>
            </a:endParaRPr>
          </a:p>
        </p:txBody>
      </p:sp>
      <p:sp>
        <p:nvSpPr>
          <p:cNvPr id="36" name="Frontend stack"/>
          <p:cNvSpPr/>
          <p:nvPr/>
        </p:nvSpPr>
        <p:spPr>
          <a:xfrm>
            <a:off x="7296840" y="5029200"/>
            <a:ext cx="4114440" cy="914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chemeClr val="dk1"/>
                </a:solidFill>
                <a:effectLst/>
                <a:uFillTx/>
                <a:latin typeface="Calibri"/>
              </a:rPr>
              <a:t>Angular 17.1 standalone components · Angular Material 17.3 · Bootstrap 5.3 · Reactive Forms · RxJS</a:t>
            </a:r>
            <a:endParaRPr lang="pt-PT" sz="1500" b="0" u="none" strike="noStrike">
              <a:solidFill>
                <a:srgbClr val="000000"/>
              </a:solidFill>
              <a:effectLst/>
              <a:uFillTx/>
              <a:latin typeface="Arial"/>
            </a:endParaRPr>
          </a:p>
        </p:txBody>
      </p:sp>
      <p:sp>
        <p:nvSpPr>
          <p:cNvPr id="37" name="PlaceHolder 2"/>
          <p:cNvSpPr>
            <a:spLocks noGrp="1"/>
          </p:cNvSpPr>
          <p:nvPr>
            <p:ph type="sldNum" idx="5"/>
          </p:nvPr>
        </p:nvSpPr>
        <p:spPr>
          <a:xfrm>
            <a:off x="11183040" y="6419160"/>
            <a:ext cx="456840" cy="273960"/>
          </a:xfrm>
          <a:prstGeom prst="rect">
            <a:avLst/>
          </a:prstGeom>
          <a:noFill/>
          <a:ln w="0">
            <a:noFill/>
          </a:ln>
        </p:spPr>
        <p:txBody>
          <a:bodyPr lIns="0" tIns="0" rIns="0" bIns="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EBCB7BBC-987F-43EB-8BC1-691013108B0D}" type="slidenum">
              <a:rPr lang="en-US" sz="1000" b="0" u="none" strike="noStrike">
                <a:solidFill>
                  <a:schemeClr val="accent6"/>
                </a:solidFill>
                <a:effectLst/>
                <a:uFillTx/>
                <a:latin typeface="Calibri"/>
              </a:rPr>
              <a:t>&lt;número&gt;</a:t>
            </a:fld>
            <a:endParaRPr lang="pt-PT"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title" hasCustomPrompt="1"/>
          </p:nvPr>
        </p:nvSpPr>
        <p:spPr>
          <a:xfrm>
            <a:off x="548640" y="365760"/>
            <a:ext cx="1109124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400" b="1" u="none" strike="noStrike">
                <a:solidFill>
                  <a:schemeClr val="dk2"/>
                </a:solidFill>
                <a:effectLst/>
                <a:uFillTx/>
                <a:latin typeface="Calibri"/>
              </a:rPr>
              <a:t>Requirements and use cases</a:t>
            </a:r>
            <a:endParaRPr lang="pt-PT" sz="3400" b="0" u="none" strike="noStrike">
              <a:solidFill>
                <a:schemeClr val="dk1"/>
              </a:solidFill>
              <a:effectLst/>
              <a:uFillTx/>
              <a:latin typeface="Calibri"/>
            </a:endParaRPr>
          </a:p>
        </p:txBody>
      </p:sp>
      <p:sp>
        <p:nvSpPr>
          <p:cNvPr id="39" name="System boundary"/>
          <p:cNvSpPr/>
          <p:nvPr/>
        </p:nvSpPr>
        <p:spPr>
          <a:xfrm>
            <a:off x="2148840" y="1325880"/>
            <a:ext cx="4891680" cy="4891680"/>
          </a:xfrm>
          <a:prstGeom prst="roundRect">
            <a:avLst>
              <a:gd name="adj" fmla="val 2243"/>
            </a:avLst>
          </a:prstGeom>
          <a:solidFill>
            <a:schemeClr val="bg2"/>
          </a:solidFill>
          <a:ln w="12700">
            <a:solidFill>
              <a:srgbClr val="D5DCE4"/>
            </a:solidFill>
            <a:round/>
          </a:ln>
        </p:spPr>
        <p:style>
          <a:lnRef idx="0"/>
          <a:fillRef idx="0"/>
          <a:effectRef idx="0"/>
          <a:fontRef idx="minor"/>
        </p:style>
        <p:txBody>
          <a:bodyPr lIns="90000" tIns="45000" rIns="90000" bIns="45000" anchor="t">
            <a:noAutofit/>
          </a:bodyPr>
          <a:p>
            <a:endParaRPr lang="pt-PT" sz="1800" b="0" u="none" strike="noStrike">
              <a:solidFill>
                <a:srgbClr val="000000"/>
              </a:solidFill>
              <a:effectLst/>
              <a:uFillTx/>
              <a:latin typeface="Arial"/>
            </a:endParaRPr>
          </a:p>
        </p:txBody>
      </p:sp>
      <p:sp>
        <p:nvSpPr>
          <p:cNvPr id="40" name="System name"/>
          <p:cNvSpPr/>
          <p:nvPr/>
        </p:nvSpPr>
        <p:spPr>
          <a:xfrm>
            <a:off x="2377440" y="1463040"/>
            <a:ext cx="448020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chemeClr val="accent6"/>
                </a:solidFill>
                <a:effectLst/>
                <a:uFillTx/>
                <a:latin typeface="Calibri"/>
              </a:rPr>
              <a:t>Calculate Profit application</a:t>
            </a:r>
            <a:endParaRPr lang="pt-PT" sz="1400" b="0" u="none" strike="noStrike">
              <a:solidFill>
                <a:srgbClr val="000000"/>
              </a:solidFill>
              <a:effectLst/>
              <a:uFillTx/>
              <a:latin typeface="Arial"/>
            </a:endParaRPr>
          </a:p>
        </p:txBody>
      </p:sp>
      <p:sp>
        <p:nvSpPr>
          <p:cNvPr id="41" name="Actor head"/>
          <p:cNvSpPr/>
          <p:nvPr/>
        </p:nvSpPr>
        <p:spPr>
          <a:xfrm>
            <a:off x="914400" y="2971800"/>
            <a:ext cx="456840" cy="456840"/>
          </a:xfrm>
          <a:prstGeom prst="ellipse">
            <a:avLst/>
          </a:prstGeom>
          <a:solidFill>
            <a:schemeClr val="bg1"/>
          </a:solidFill>
          <a:ln w="25400">
            <a:solidFill>
              <a:srgbClr val="0E3A6B"/>
            </a:solidFill>
            <a:round/>
          </a:ln>
        </p:spPr>
        <p:style>
          <a:lnRef idx="0"/>
          <a:fillRef idx="0"/>
          <a:effectRef idx="0"/>
          <a:fontRef idx="minor"/>
        </p:style>
        <p:txBody>
          <a:bodyPr lIns="90000" tIns="45000" rIns="90000" bIns="45000" anchor="t">
            <a:noAutofit/>
          </a:bodyPr>
          <a:p>
            <a:endParaRPr lang="pt-PT" sz="1800" b="0" u="none" strike="noStrike">
              <a:solidFill>
                <a:srgbClr val="000000"/>
              </a:solidFill>
              <a:effectLst/>
              <a:uFillTx/>
              <a:latin typeface="Arial"/>
            </a:endParaRPr>
          </a:p>
        </p:txBody>
      </p:sp>
      <p:sp>
        <p:nvSpPr>
          <p:cNvPr id="42" name="Actor body"/>
          <p:cNvSpPr/>
          <p:nvPr/>
        </p:nvSpPr>
        <p:spPr>
          <a:xfrm>
            <a:off x="1143000" y="3429000"/>
            <a:ext cx="720" cy="731520"/>
          </a:xfrm>
          <a:prstGeom prst="line">
            <a:avLst/>
          </a:prstGeom>
          <a:ln w="25400">
            <a:solidFill>
              <a:srgbClr val="0E3A6B"/>
            </a:solidFill>
            <a:round/>
          </a:ln>
        </p:spPr>
        <p:style>
          <a:lnRef idx="0"/>
          <a:fillRef idx="0"/>
          <a:effectRef idx="0"/>
          <a:fontRef idx="minor"/>
        </p:style>
        <p:txBody>
          <a:bodyPr lIns="90000" tIns="45000" rIns="90000" bIns="45000" anchor="t" anchorCtr="1">
            <a:noAutofit/>
          </a:bodyPr>
          <a:p>
            <a:endParaRPr lang="pt-PT" sz="1800" b="0" u="none" strike="noStrike">
              <a:solidFill>
                <a:srgbClr val="000000"/>
              </a:solidFill>
              <a:effectLst/>
              <a:uFillTx/>
              <a:latin typeface="Arial"/>
            </a:endParaRPr>
          </a:p>
        </p:txBody>
      </p:sp>
      <p:sp>
        <p:nvSpPr>
          <p:cNvPr id="43" name="Actor arms"/>
          <p:cNvSpPr/>
          <p:nvPr/>
        </p:nvSpPr>
        <p:spPr>
          <a:xfrm>
            <a:off x="795240" y="3684960"/>
            <a:ext cx="695160" cy="720"/>
          </a:xfrm>
          <a:prstGeom prst="line">
            <a:avLst/>
          </a:prstGeom>
          <a:ln w="25400">
            <a:solidFill>
              <a:srgbClr val="0E3A6B"/>
            </a:solidFill>
            <a:round/>
          </a:ln>
        </p:spPr>
        <p:style>
          <a:lnRef idx="0"/>
          <a:fillRef idx="0"/>
          <a:effectRef idx="0"/>
          <a:fontRef idx="minor"/>
        </p:style>
        <p:txBody>
          <a:bodyPr lIns="90000" tIns="-44280" rIns="90000" bIns="-44280" anchor="t" anchorCtr="1">
            <a:noAutofit/>
          </a:bodyPr>
          <a:p>
            <a:endParaRPr lang="pt-PT" sz="1800" b="0" u="none" strike="noStrike">
              <a:solidFill>
                <a:srgbClr val="000000"/>
              </a:solidFill>
              <a:effectLst/>
              <a:uFillTx/>
              <a:latin typeface="Arial"/>
            </a:endParaRPr>
          </a:p>
        </p:txBody>
      </p:sp>
      <p:sp>
        <p:nvSpPr>
          <p:cNvPr id="44" name="Actor left leg"/>
          <p:cNvSpPr/>
          <p:nvPr/>
        </p:nvSpPr>
        <p:spPr>
          <a:xfrm flipV="1">
            <a:off x="868680" y="4160520"/>
            <a:ext cx="274320" cy="502920"/>
          </a:xfrm>
          <a:prstGeom prst="line">
            <a:avLst/>
          </a:prstGeom>
          <a:ln w="25400">
            <a:solidFill>
              <a:srgbClr val="0E3A6B"/>
            </a:solidFill>
            <a:round/>
          </a:ln>
        </p:spPr>
        <p:style>
          <a:lnRef idx="0"/>
          <a:fillRef idx="0"/>
          <a:effectRef idx="0"/>
          <a:fontRef idx="minor"/>
        </p:style>
        <p:txBody>
          <a:bodyPr lIns="90000" tIns="45000" rIns="90000" bIns="45000" anchor="t" anchorCtr="1">
            <a:noAutofit/>
          </a:bodyPr>
          <a:p>
            <a:endParaRPr lang="pt-PT" sz="1800" b="0" u="none" strike="noStrike">
              <a:solidFill>
                <a:srgbClr val="000000"/>
              </a:solidFill>
              <a:effectLst/>
              <a:uFillTx/>
              <a:latin typeface="Arial"/>
            </a:endParaRPr>
          </a:p>
        </p:txBody>
      </p:sp>
      <p:sp>
        <p:nvSpPr>
          <p:cNvPr id="45" name="Actor right leg"/>
          <p:cNvSpPr/>
          <p:nvPr/>
        </p:nvSpPr>
        <p:spPr>
          <a:xfrm>
            <a:off x="1143000" y="4160520"/>
            <a:ext cx="274320" cy="502920"/>
          </a:xfrm>
          <a:prstGeom prst="line">
            <a:avLst/>
          </a:prstGeom>
          <a:ln w="25400">
            <a:solidFill>
              <a:srgbClr val="0E3A6B"/>
            </a:solidFill>
            <a:round/>
          </a:ln>
        </p:spPr>
        <p:style>
          <a:lnRef idx="0"/>
          <a:fillRef idx="0"/>
          <a:effectRef idx="0"/>
          <a:fontRef idx="minor"/>
        </p:style>
        <p:txBody>
          <a:bodyPr lIns="90000" tIns="45000" rIns="90000" bIns="45000" anchor="t" anchorCtr="1">
            <a:noAutofit/>
          </a:bodyPr>
          <a:p>
            <a:endParaRPr lang="pt-PT" sz="1800" b="0" u="none" strike="noStrike">
              <a:solidFill>
                <a:srgbClr val="000000"/>
              </a:solidFill>
              <a:effectLst/>
              <a:uFillTx/>
              <a:latin typeface="Arial"/>
            </a:endParaRPr>
          </a:p>
        </p:txBody>
      </p:sp>
      <p:sp>
        <p:nvSpPr>
          <p:cNvPr id="46" name="Actor name"/>
          <p:cNvSpPr/>
          <p:nvPr/>
        </p:nvSpPr>
        <p:spPr>
          <a:xfrm>
            <a:off x="502920" y="4754880"/>
            <a:ext cx="127980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chemeClr val="dk1"/>
                </a:solidFill>
                <a:effectLst/>
                <a:uFillTx/>
                <a:latin typeface="Calibri"/>
              </a:rPr>
              <a:t>Finance user</a:t>
            </a:r>
            <a:endParaRPr lang="pt-PT" sz="1400" b="0" u="none" strike="noStrike">
              <a:solidFill>
                <a:srgbClr val="000000"/>
              </a:solidFill>
              <a:effectLst/>
              <a:uFillTx/>
              <a:latin typeface="Arial"/>
            </a:endParaRPr>
          </a:p>
        </p:txBody>
      </p:sp>
      <p:sp>
        <p:nvSpPr>
          <p:cNvPr id="47" name="Association 1"/>
          <p:cNvSpPr/>
          <p:nvPr/>
        </p:nvSpPr>
        <p:spPr>
          <a:xfrm flipV="1">
            <a:off x="1554480" y="2221920"/>
            <a:ext cx="1280160" cy="1527120"/>
          </a:xfrm>
          <a:prstGeom prst="line">
            <a:avLst/>
          </a:prstGeom>
          <a:ln w="15875">
            <a:solidFill>
              <a:srgbClr val="5B6B7B"/>
            </a:solidFill>
            <a:round/>
          </a:ln>
        </p:spPr>
        <p:style>
          <a:lnRef idx="0"/>
          <a:fillRef idx="0"/>
          <a:effectRef idx="0"/>
          <a:fontRef idx="minor"/>
        </p:style>
        <p:txBody>
          <a:bodyPr lIns="90000" tIns="45000" rIns="90000" bIns="45000" anchor="t" anchorCtr="1">
            <a:noAutofit/>
          </a:bodyPr>
          <a:p>
            <a:endParaRPr lang="pt-PT" sz="1800" b="0" u="none" strike="noStrike">
              <a:solidFill>
                <a:srgbClr val="000000"/>
              </a:solidFill>
              <a:effectLst/>
              <a:uFillTx/>
              <a:latin typeface="Arial"/>
            </a:endParaRPr>
          </a:p>
        </p:txBody>
      </p:sp>
      <p:sp>
        <p:nvSpPr>
          <p:cNvPr id="48" name="Use case 1"/>
          <p:cNvSpPr/>
          <p:nvPr/>
        </p:nvSpPr>
        <p:spPr>
          <a:xfrm>
            <a:off x="2834640" y="1920240"/>
            <a:ext cx="3565800" cy="603000"/>
          </a:xfrm>
          <a:prstGeom prst="ellipse">
            <a:avLst/>
          </a:prstGeom>
          <a:solidFill>
            <a:schemeClr val="bg1"/>
          </a:solidFill>
          <a:ln w="19050">
            <a:solidFill>
              <a:srgbClr val="0E3A6B"/>
            </a:solidFill>
            <a:round/>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0" u="none" strike="noStrike">
                <a:solidFill>
                  <a:schemeClr val="dk1"/>
                </a:solidFill>
                <a:effectLst/>
                <a:uFillTx/>
                <a:latin typeface="Calibri"/>
              </a:rPr>
              <a:t>Select a shipment</a:t>
            </a:r>
            <a:endParaRPr lang="pt-PT" sz="1500" b="0" u="none" strike="noStrike">
              <a:solidFill>
                <a:srgbClr val="000000"/>
              </a:solidFill>
              <a:effectLst/>
              <a:uFillTx/>
              <a:latin typeface="Arial"/>
            </a:endParaRPr>
          </a:p>
        </p:txBody>
      </p:sp>
      <p:sp>
        <p:nvSpPr>
          <p:cNvPr id="49" name="Association 2"/>
          <p:cNvSpPr/>
          <p:nvPr/>
        </p:nvSpPr>
        <p:spPr>
          <a:xfrm flipV="1">
            <a:off x="1554480" y="3044880"/>
            <a:ext cx="1280160" cy="704160"/>
          </a:xfrm>
          <a:prstGeom prst="line">
            <a:avLst/>
          </a:prstGeom>
          <a:ln w="15875">
            <a:solidFill>
              <a:srgbClr val="5B6B7B"/>
            </a:solidFill>
            <a:round/>
          </a:ln>
        </p:spPr>
        <p:style>
          <a:lnRef idx="0"/>
          <a:fillRef idx="0"/>
          <a:effectRef idx="0"/>
          <a:fontRef idx="minor"/>
        </p:style>
        <p:txBody>
          <a:bodyPr lIns="90000" tIns="45000" rIns="90000" bIns="45000" anchor="t" anchorCtr="1">
            <a:noAutofit/>
          </a:bodyPr>
          <a:p>
            <a:endParaRPr lang="pt-PT" sz="1800" b="0" u="none" strike="noStrike">
              <a:solidFill>
                <a:srgbClr val="000000"/>
              </a:solidFill>
              <a:effectLst/>
              <a:uFillTx/>
              <a:latin typeface="Arial"/>
            </a:endParaRPr>
          </a:p>
        </p:txBody>
      </p:sp>
      <p:sp>
        <p:nvSpPr>
          <p:cNvPr id="50" name="Use case 2"/>
          <p:cNvSpPr/>
          <p:nvPr/>
        </p:nvSpPr>
        <p:spPr>
          <a:xfrm>
            <a:off x="2834640" y="2743200"/>
            <a:ext cx="3565800" cy="603000"/>
          </a:xfrm>
          <a:prstGeom prst="ellipse">
            <a:avLst/>
          </a:prstGeom>
          <a:solidFill>
            <a:schemeClr val="bg1"/>
          </a:solidFill>
          <a:ln w="19050">
            <a:solidFill>
              <a:srgbClr val="0E3A6B"/>
            </a:solidFill>
            <a:round/>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0" u="none" strike="noStrike">
                <a:solidFill>
                  <a:schemeClr val="dk1"/>
                </a:solidFill>
                <a:effectLst/>
                <a:uFillTx/>
                <a:latin typeface="Calibri"/>
              </a:rPr>
              <a:t>View calculation history</a:t>
            </a:r>
            <a:endParaRPr lang="pt-PT" sz="1500" b="0" u="none" strike="noStrike">
              <a:solidFill>
                <a:srgbClr val="000000"/>
              </a:solidFill>
              <a:effectLst/>
              <a:uFillTx/>
              <a:latin typeface="Arial"/>
            </a:endParaRPr>
          </a:p>
        </p:txBody>
      </p:sp>
      <p:sp>
        <p:nvSpPr>
          <p:cNvPr id="51" name="Association 3"/>
          <p:cNvSpPr/>
          <p:nvPr/>
        </p:nvSpPr>
        <p:spPr>
          <a:xfrm>
            <a:off x="1554480" y="3749040"/>
            <a:ext cx="1280160" cy="118800"/>
          </a:xfrm>
          <a:prstGeom prst="line">
            <a:avLst/>
          </a:prstGeom>
          <a:ln w="15875">
            <a:solidFill>
              <a:srgbClr val="5B6B7B"/>
            </a:solidFill>
            <a:round/>
          </a:ln>
        </p:spPr>
        <p:style>
          <a:lnRef idx="0"/>
          <a:fillRef idx="0"/>
          <a:effectRef idx="0"/>
          <a:fontRef idx="minor"/>
        </p:style>
        <p:txBody>
          <a:bodyPr lIns="90000" tIns="45000" rIns="90000" bIns="45000" anchor="t" anchorCtr="1">
            <a:noAutofit/>
          </a:bodyPr>
          <a:p>
            <a:endParaRPr lang="pt-PT" sz="1800" b="0" u="none" strike="noStrike">
              <a:solidFill>
                <a:srgbClr val="000000"/>
              </a:solidFill>
              <a:effectLst/>
              <a:uFillTx/>
              <a:latin typeface="Arial"/>
            </a:endParaRPr>
          </a:p>
        </p:txBody>
      </p:sp>
      <p:sp>
        <p:nvSpPr>
          <p:cNvPr id="52" name="Use case 3"/>
          <p:cNvSpPr/>
          <p:nvPr/>
        </p:nvSpPr>
        <p:spPr>
          <a:xfrm>
            <a:off x="2834640" y="3566160"/>
            <a:ext cx="3565800" cy="603000"/>
          </a:xfrm>
          <a:prstGeom prst="ellipse">
            <a:avLst/>
          </a:prstGeom>
          <a:solidFill>
            <a:schemeClr val="bg1"/>
          </a:solidFill>
          <a:ln w="19050">
            <a:solidFill>
              <a:srgbClr val="0E3A6B"/>
            </a:solidFill>
            <a:round/>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0" u="none" strike="noStrike">
                <a:solidFill>
                  <a:schemeClr val="dk1"/>
                </a:solidFill>
                <a:effectLst/>
                <a:uFillTx/>
                <a:latin typeface="Calibri"/>
              </a:rPr>
              <a:t>Enter income and costs</a:t>
            </a:r>
            <a:endParaRPr lang="pt-PT" sz="1500" b="0" u="none" strike="noStrike">
              <a:solidFill>
                <a:srgbClr val="000000"/>
              </a:solidFill>
              <a:effectLst/>
              <a:uFillTx/>
              <a:latin typeface="Arial"/>
            </a:endParaRPr>
          </a:p>
        </p:txBody>
      </p:sp>
      <p:sp>
        <p:nvSpPr>
          <p:cNvPr id="53" name="Association 4"/>
          <p:cNvSpPr/>
          <p:nvPr/>
        </p:nvSpPr>
        <p:spPr>
          <a:xfrm>
            <a:off x="1554480" y="3749040"/>
            <a:ext cx="1280160" cy="941760"/>
          </a:xfrm>
          <a:prstGeom prst="line">
            <a:avLst/>
          </a:prstGeom>
          <a:ln w="15875">
            <a:solidFill>
              <a:srgbClr val="5B6B7B"/>
            </a:solidFill>
            <a:round/>
          </a:ln>
        </p:spPr>
        <p:style>
          <a:lnRef idx="0"/>
          <a:fillRef idx="0"/>
          <a:effectRef idx="0"/>
          <a:fontRef idx="minor"/>
        </p:style>
        <p:txBody>
          <a:bodyPr lIns="90000" tIns="45000" rIns="90000" bIns="45000" anchor="t" anchorCtr="1">
            <a:noAutofit/>
          </a:bodyPr>
          <a:p>
            <a:endParaRPr lang="pt-PT" sz="1800" b="0" u="none" strike="noStrike">
              <a:solidFill>
                <a:srgbClr val="000000"/>
              </a:solidFill>
              <a:effectLst/>
              <a:uFillTx/>
              <a:latin typeface="Arial"/>
            </a:endParaRPr>
          </a:p>
        </p:txBody>
      </p:sp>
      <p:sp>
        <p:nvSpPr>
          <p:cNvPr id="54" name="Use case 4"/>
          <p:cNvSpPr/>
          <p:nvPr/>
        </p:nvSpPr>
        <p:spPr>
          <a:xfrm>
            <a:off x="2834640" y="4389120"/>
            <a:ext cx="3565800" cy="603000"/>
          </a:xfrm>
          <a:prstGeom prst="ellipse">
            <a:avLst/>
          </a:prstGeom>
          <a:solidFill>
            <a:schemeClr val="bg1"/>
          </a:solidFill>
          <a:ln w="19050">
            <a:solidFill>
              <a:srgbClr val="0E3A6B"/>
            </a:solidFill>
            <a:round/>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0" u="none" strike="noStrike">
                <a:solidFill>
                  <a:schemeClr val="dk1"/>
                </a:solidFill>
                <a:effectLst/>
                <a:uFillTx/>
                <a:latin typeface="Calibri"/>
              </a:rPr>
              <a:t>Calculate profit or loss</a:t>
            </a:r>
            <a:endParaRPr lang="pt-PT" sz="1500" b="0" u="none" strike="noStrike">
              <a:solidFill>
                <a:srgbClr val="000000"/>
              </a:solidFill>
              <a:effectLst/>
              <a:uFillTx/>
              <a:latin typeface="Arial"/>
            </a:endParaRPr>
          </a:p>
        </p:txBody>
      </p:sp>
      <p:sp>
        <p:nvSpPr>
          <p:cNvPr id="55" name="Association 5"/>
          <p:cNvSpPr/>
          <p:nvPr/>
        </p:nvSpPr>
        <p:spPr>
          <a:xfrm>
            <a:off x="1554480" y="3749040"/>
            <a:ext cx="1280160" cy="1764720"/>
          </a:xfrm>
          <a:prstGeom prst="line">
            <a:avLst/>
          </a:prstGeom>
          <a:ln w="15875">
            <a:solidFill>
              <a:srgbClr val="5B6B7B"/>
            </a:solidFill>
            <a:round/>
          </a:ln>
        </p:spPr>
        <p:style>
          <a:lnRef idx="0"/>
          <a:fillRef idx="0"/>
          <a:effectRef idx="0"/>
          <a:fontRef idx="minor"/>
        </p:style>
        <p:txBody>
          <a:bodyPr lIns="90000" tIns="45000" rIns="90000" bIns="45000" anchor="t" anchorCtr="1">
            <a:noAutofit/>
          </a:bodyPr>
          <a:p>
            <a:endParaRPr lang="pt-PT" sz="1800" b="0" u="none" strike="noStrike">
              <a:solidFill>
                <a:srgbClr val="000000"/>
              </a:solidFill>
              <a:effectLst/>
              <a:uFillTx/>
              <a:latin typeface="Arial"/>
            </a:endParaRPr>
          </a:p>
        </p:txBody>
      </p:sp>
      <p:sp>
        <p:nvSpPr>
          <p:cNvPr id="56" name="Use case 5"/>
          <p:cNvSpPr/>
          <p:nvPr/>
        </p:nvSpPr>
        <p:spPr>
          <a:xfrm>
            <a:off x="2834640" y="5212080"/>
            <a:ext cx="3565800" cy="603000"/>
          </a:xfrm>
          <a:prstGeom prst="ellipse">
            <a:avLst/>
          </a:prstGeom>
          <a:solidFill>
            <a:schemeClr val="bg1"/>
          </a:solidFill>
          <a:ln w="19050">
            <a:solidFill>
              <a:srgbClr val="0E3A6B"/>
            </a:solidFill>
            <a:round/>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0" u="none" strike="noStrike">
                <a:solidFill>
                  <a:schemeClr val="dk1"/>
                </a:solidFill>
                <a:effectLst/>
                <a:uFillTx/>
                <a:latin typeface="Calibri"/>
              </a:rPr>
              <a:t>Sort the history by column</a:t>
            </a:r>
            <a:endParaRPr lang="pt-PT" sz="1500" b="0" u="none" strike="noStrike">
              <a:solidFill>
                <a:srgbClr val="000000"/>
              </a:solidFill>
              <a:effectLst/>
              <a:uFillTx/>
              <a:latin typeface="Arial"/>
            </a:endParaRPr>
          </a:p>
        </p:txBody>
      </p:sp>
      <p:sp>
        <p:nvSpPr>
          <p:cNvPr id="57" name="Rules card"/>
          <p:cNvSpPr/>
          <p:nvPr/>
        </p:nvSpPr>
        <p:spPr>
          <a:xfrm>
            <a:off x="7406640" y="1325880"/>
            <a:ext cx="4233240" cy="4891680"/>
          </a:xfrm>
          <a:prstGeom prst="roundRect">
            <a:avLst>
              <a:gd name="adj" fmla="val 2592"/>
            </a:avLst>
          </a:prstGeom>
          <a:solidFill>
            <a:schemeClr val="bg2"/>
          </a:solidFill>
          <a:ln w="0">
            <a:noFill/>
          </a:ln>
        </p:spPr>
        <p:style>
          <a:lnRef idx="0"/>
          <a:fillRef idx="0"/>
          <a:effectRef idx="0"/>
          <a:fontRef idx="minor"/>
        </p:style>
        <p:txBody>
          <a:bodyPr lIns="90000" tIns="45000" rIns="90000" bIns="45000" anchor="t">
            <a:noAutofit/>
          </a:bodyPr>
          <a:p>
            <a:endParaRPr lang="pt-PT" sz="1800" b="0" u="none" strike="noStrike">
              <a:solidFill>
                <a:srgbClr val="000000"/>
              </a:solidFill>
              <a:effectLst/>
              <a:uFillTx/>
              <a:latin typeface="Arial"/>
            </a:endParaRPr>
          </a:p>
        </p:txBody>
      </p:sp>
      <p:sp>
        <p:nvSpPr>
          <p:cNvPr id="58" name="Rules heading"/>
          <p:cNvSpPr/>
          <p:nvPr/>
        </p:nvSpPr>
        <p:spPr>
          <a:xfrm>
            <a:off x="7680960" y="1554480"/>
            <a:ext cx="374868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Calibri"/>
              </a:rPr>
              <a:t>Rules the app enforces</a:t>
            </a:r>
            <a:endParaRPr lang="pt-PT" sz="1800" b="0" u="none" strike="noStrike">
              <a:solidFill>
                <a:srgbClr val="000000"/>
              </a:solidFill>
              <a:effectLst/>
              <a:uFillTx/>
              <a:latin typeface="Arial"/>
            </a:endParaRPr>
          </a:p>
        </p:txBody>
      </p:sp>
      <p:sp>
        <p:nvSpPr>
          <p:cNvPr id="59" name="Rules list"/>
          <p:cNvSpPr/>
          <p:nvPr/>
        </p:nvSpPr>
        <p:spPr>
          <a:xfrm>
            <a:off x="7680960" y="2057400"/>
            <a:ext cx="3748680" cy="3108600"/>
          </a:xfrm>
          <a:prstGeom prst="rect">
            <a:avLst/>
          </a:prstGeom>
          <a:noFill/>
          <a:ln w="0">
            <a:noFill/>
          </a:ln>
        </p:spPr>
        <p:style>
          <a:lnRef idx="0"/>
          <a:fillRef idx="0"/>
          <a:effectRef idx="0"/>
          <a:fontRef idx="minor"/>
        </p:style>
        <p:txBody>
          <a:bodyPr lIns="0" tIns="0" rIns="0" bIns="0" anchor="t">
            <a:noAutofit/>
          </a:bodyPr>
          <a:p>
            <a:pPr marL="228600" indent="-228600" defTabSz="914400">
              <a:lnSpc>
                <a:spcPct val="100000"/>
              </a:lnSpc>
              <a:spcAft>
                <a:spcPts val="799"/>
              </a:spcAft>
              <a:buClr>
                <a:srgbClr val="1B2733"/>
              </a:buClr>
              <a:buFont typeface="Symbol" charset="2"/>
              <a:buChar char=""/>
            </a:pPr>
            <a:r>
              <a:rPr lang="en-US" sz="1500" b="0" u="none" strike="noStrike">
                <a:solidFill>
                  <a:schemeClr val="dk1"/>
                </a:solidFill>
                <a:effectLst/>
                <a:uFillTx/>
                <a:latin typeface="Calibri"/>
              </a:rPr>
              <a:t>Income and cost are required</a:t>
            </a:r>
            <a:endParaRPr lang="pt-PT" sz="1500" b="0" u="none" strike="noStrike">
              <a:solidFill>
                <a:srgbClr val="000000"/>
              </a:solidFill>
              <a:effectLst/>
              <a:uFillTx/>
              <a:latin typeface="Arial"/>
            </a:endParaRPr>
          </a:p>
          <a:p>
            <a:pPr marL="228600" indent="-228600" defTabSz="914400">
              <a:lnSpc>
                <a:spcPct val="100000"/>
              </a:lnSpc>
              <a:spcAft>
                <a:spcPts val="799"/>
              </a:spcAft>
              <a:buClr>
                <a:srgbClr val="1B2733"/>
              </a:buClr>
              <a:buFont typeface="Symbol" charset="2"/>
              <a:buChar char=""/>
            </a:pPr>
            <a:r>
              <a:rPr lang="en-US" sz="1500" b="0" u="none" strike="noStrike">
                <a:solidFill>
                  <a:schemeClr val="dk1"/>
                </a:solidFill>
                <a:effectLst/>
                <a:uFillTx/>
                <a:latin typeface="Calibri"/>
              </a:rPr>
              <a:t>Every amount must be 0 or more</a:t>
            </a:r>
            <a:endParaRPr lang="pt-PT" sz="1500" b="0" u="none" strike="noStrike">
              <a:solidFill>
                <a:srgbClr val="000000"/>
              </a:solidFill>
              <a:effectLst/>
              <a:uFillTx/>
              <a:latin typeface="Arial"/>
            </a:endParaRPr>
          </a:p>
          <a:p>
            <a:pPr marL="228600" indent="-228600" defTabSz="914400">
              <a:lnSpc>
                <a:spcPct val="100000"/>
              </a:lnSpc>
              <a:spcAft>
                <a:spcPts val="799"/>
              </a:spcAft>
              <a:buClr>
                <a:srgbClr val="1B2733"/>
              </a:buClr>
              <a:buFont typeface="Symbol" charset="2"/>
              <a:buChar char=""/>
            </a:pPr>
            <a:r>
              <a:rPr lang="en-US" sz="1500" b="0" u="none" strike="noStrike">
                <a:solidFill>
                  <a:schemeClr val="dk1"/>
                </a:solidFill>
                <a:effectLst/>
                <a:uFillTx/>
                <a:latin typeface="Calibri"/>
              </a:rPr>
              <a:t>Additional cost is optional — empty or 0 is not stored</a:t>
            </a:r>
            <a:endParaRPr lang="pt-PT" sz="1500" b="0" u="none" strike="noStrike">
              <a:solidFill>
                <a:srgbClr val="000000"/>
              </a:solidFill>
              <a:effectLst/>
              <a:uFillTx/>
              <a:latin typeface="Arial"/>
            </a:endParaRPr>
          </a:p>
          <a:p>
            <a:pPr marL="228600" indent="-228600" defTabSz="914400">
              <a:lnSpc>
                <a:spcPct val="100000"/>
              </a:lnSpc>
              <a:spcAft>
                <a:spcPts val="799"/>
              </a:spcAft>
              <a:buClr>
                <a:srgbClr val="1B2733"/>
              </a:buClr>
              <a:buFont typeface="Symbol" charset="2"/>
              <a:buChar char=""/>
            </a:pPr>
            <a:r>
              <a:rPr lang="en-US" sz="1500" b="0" u="none" strike="noStrike">
                <a:solidFill>
                  <a:schemeClr val="dk1"/>
                </a:solidFill>
                <a:effectLst/>
                <a:uFillTx/>
                <a:latin typeface="Calibri"/>
              </a:rPr>
              <a:t>Profit = Income − (Cost + Additional cost)</a:t>
            </a:r>
            <a:endParaRPr lang="pt-PT" sz="1500" b="0" u="none" strike="noStrike">
              <a:solidFill>
                <a:srgbClr val="000000"/>
              </a:solidFill>
              <a:effectLst/>
              <a:uFillTx/>
              <a:latin typeface="Arial"/>
            </a:endParaRPr>
          </a:p>
          <a:p>
            <a:pPr marL="228600" indent="-228600" defTabSz="914400">
              <a:lnSpc>
                <a:spcPct val="100000"/>
              </a:lnSpc>
              <a:spcAft>
                <a:spcPts val="799"/>
              </a:spcAft>
              <a:buClr>
                <a:srgbClr val="1B2733"/>
              </a:buClr>
              <a:buFont typeface="Symbol" charset="2"/>
              <a:buChar char=""/>
            </a:pPr>
            <a:r>
              <a:rPr lang="en-US" sz="1500" b="0" u="none" strike="noStrike">
                <a:solidFill>
                  <a:schemeClr val="dk1"/>
                </a:solidFill>
                <a:effectLst/>
                <a:uFillTx/>
                <a:latin typeface="Calibri"/>
              </a:rPr>
              <a:t>A negative result is a loss, shown in red</a:t>
            </a:r>
            <a:endParaRPr lang="pt-PT" sz="1500" b="0" u="none" strike="noStrike">
              <a:solidFill>
                <a:srgbClr val="000000"/>
              </a:solidFill>
              <a:effectLst/>
              <a:uFillTx/>
              <a:latin typeface="Arial"/>
            </a:endParaRPr>
          </a:p>
          <a:p>
            <a:pPr marL="228600" indent="-228600" defTabSz="914400">
              <a:lnSpc>
                <a:spcPct val="100000"/>
              </a:lnSpc>
              <a:spcAft>
                <a:spcPts val="799"/>
              </a:spcAft>
              <a:buClr>
                <a:srgbClr val="1B2733"/>
              </a:buClr>
              <a:buFont typeface="Symbol" charset="2"/>
              <a:buChar char=""/>
            </a:pPr>
            <a:r>
              <a:rPr lang="en-US" sz="1500" b="0" u="none" strike="noStrike">
                <a:solidFill>
                  <a:schemeClr val="dk1"/>
                </a:solidFill>
                <a:effectLst/>
                <a:uFillTx/>
                <a:latin typeface="Calibri"/>
              </a:rPr>
              <a:t>Every calculation is kept, newest first</a:t>
            </a:r>
            <a:endParaRPr lang="pt-PT" sz="1500" b="0" u="none" strike="noStrike">
              <a:solidFill>
                <a:srgbClr val="000000"/>
              </a:solidFill>
              <a:effectLst/>
              <a:uFillTx/>
              <a:latin typeface="Arial"/>
            </a:endParaRPr>
          </a:p>
        </p:txBody>
      </p:sp>
      <p:sp>
        <p:nvSpPr>
          <p:cNvPr id="60" name="API extra"/>
          <p:cNvSpPr/>
          <p:nvPr/>
        </p:nvSpPr>
        <p:spPr>
          <a:xfrm>
            <a:off x="7680960" y="5349240"/>
            <a:ext cx="374868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i="1" u="none" strike="noStrike">
                <a:solidFill>
                  <a:schemeClr val="accent6"/>
                </a:solidFill>
                <a:effectLst/>
                <a:uFillTx/>
                <a:latin typeface="Calibri"/>
              </a:rPr>
              <a:t>API-only extra: find a shipment by its code (GET /api/shipments/code/{code}).</a:t>
            </a:r>
            <a:endParaRPr lang="pt-PT" sz="1200" b="0" u="none" strike="noStrike">
              <a:solidFill>
                <a:srgbClr val="000000"/>
              </a:solidFill>
              <a:effectLst/>
              <a:uFillTx/>
              <a:latin typeface="Arial"/>
            </a:endParaRPr>
          </a:p>
        </p:txBody>
      </p:sp>
      <p:sp>
        <p:nvSpPr>
          <p:cNvPr id="61" name="PlaceHolder 2"/>
          <p:cNvSpPr>
            <a:spLocks noGrp="1"/>
          </p:cNvSpPr>
          <p:nvPr>
            <p:ph type="sldNum" idx="6"/>
          </p:nvPr>
        </p:nvSpPr>
        <p:spPr>
          <a:xfrm>
            <a:off x="11183040" y="6419160"/>
            <a:ext cx="456840" cy="273960"/>
          </a:xfrm>
          <a:prstGeom prst="rect">
            <a:avLst/>
          </a:prstGeom>
          <a:noFill/>
          <a:ln w="0">
            <a:noFill/>
          </a:ln>
        </p:spPr>
        <p:txBody>
          <a:bodyPr lIns="0" tIns="0" rIns="0" bIns="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B4260EAF-4F1D-442B-B26E-F283F74B0BE8}" type="slidenum">
              <a:rPr lang="en-US" sz="1000" b="0" u="none" strike="noStrike">
                <a:solidFill>
                  <a:schemeClr val="accent6"/>
                </a:solidFill>
                <a:effectLst/>
                <a:uFillTx/>
                <a:latin typeface="Calibri"/>
              </a:rPr>
              <a:t>&lt;número&gt;</a:t>
            </a:fld>
            <a:endParaRPr lang="pt-PT"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type="title" hasCustomPrompt="1"/>
          </p:nvPr>
        </p:nvSpPr>
        <p:spPr>
          <a:xfrm>
            <a:off x="548640" y="365760"/>
            <a:ext cx="1109124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400" b="1" u="none" strike="noStrike">
                <a:solidFill>
                  <a:schemeClr val="dk2"/>
                </a:solidFill>
                <a:effectLst/>
                <a:uFillTx/>
                <a:latin typeface="Calibri"/>
              </a:rPr>
              <a:t>System architecture</a:t>
            </a:r>
            <a:endParaRPr lang="pt-PT" sz="3400" b="0" u="none" strike="noStrike">
              <a:solidFill>
                <a:schemeClr val="dk1"/>
              </a:solidFill>
              <a:effectLst/>
              <a:uFillTx/>
              <a:latin typeface="Calibri"/>
            </a:endParaRPr>
          </a:p>
        </p:txBody>
      </p:sp>
      <p:pic>
        <p:nvPicPr>
          <p:cNvPr id="63" name="System architecture diagram" descr="Browser and Postman call the Angular dev server and Spring Boot backend, which stores data in an in-memory H2 database"/>
          <p:cNvPicPr/>
          <p:nvPr/>
        </p:nvPicPr>
        <p:blipFill>
          <a:blip r:embed="rId1"/>
          <a:stretch/>
        </p:blipFill>
        <p:spPr>
          <a:xfrm>
            <a:off x="548640" y="1234440"/>
            <a:ext cx="11091240" cy="4910040"/>
          </a:xfrm>
          <a:prstGeom prst="rect">
            <a:avLst/>
          </a:prstGeom>
          <a:noFill/>
          <a:ln w="0">
            <a:noFill/>
          </a:ln>
        </p:spPr>
      </p:pic>
      <p:sp>
        <p:nvSpPr>
          <p:cNvPr id="64" name="PlaceHolder 2"/>
          <p:cNvSpPr>
            <a:spLocks noGrp="1"/>
          </p:cNvSpPr>
          <p:nvPr>
            <p:ph type="sldNum" idx="7"/>
          </p:nvPr>
        </p:nvSpPr>
        <p:spPr>
          <a:xfrm>
            <a:off x="11183040" y="6419160"/>
            <a:ext cx="456840" cy="273960"/>
          </a:xfrm>
          <a:prstGeom prst="rect">
            <a:avLst/>
          </a:prstGeom>
          <a:noFill/>
          <a:ln w="0">
            <a:noFill/>
          </a:ln>
        </p:spPr>
        <p:txBody>
          <a:bodyPr lIns="0" tIns="0" rIns="0" bIns="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235433B3-7813-464D-AA7E-4F48E776874A}" type="slidenum">
              <a:rPr lang="en-US" sz="1000" b="0" u="none" strike="noStrike">
                <a:solidFill>
                  <a:schemeClr val="accent6"/>
                </a:solidFill>
                <a:effectLst/>
                <a:uFillTx/>
                <a:latin typeface="Calibri"/>
              </a:rPr>
              <a:t>&lt;número&gt;</a:t>
            </a:fld>
            <a:endParaRPr lang="pt-PT"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type="title" hasCustomPrompt="1"/>
          </p:nvPr>
        </p:nvSpPr>
        <p:spPr>
          <a:xfrm>
            <a:off x="548640" y="365760"/>
            <a:ext cx="1109124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400" b="1" u="none" strike="noStrike">
                <a:solidFill>
                  <a:schemeClr val="dk2"/>
                </a:solidFill>
                <a:effectLst/>
                <a:uFillTx/>
                <a:latin typeface="Calibri"/>
              </a:rPr>
              <a:t>Data model</a:t>
            </a:r>
            <a:endParaRPr lang="pt-PT" sz="3400" b="0" u="none" strike="noStrike">
              <a:solidFill>
                <a:schemeClr val="dk1"/>
              </a:solidFill>
              <a:effectLst/>
              <a:uFillTx/>
              <a:latin typeface="Calibri"/>
            </a:endParaRPr>
          </a:p>
        </p:txBody>
      </p:sp>
      <p:pic>
        <p:nvPicPr>
          <p:cNvPr id="66" name="Database diagram" descr="shipments 1 to many profit_calculations; each calculation owns many incomes and costs"/>
          <p:cNvPicPr/>
          <p:nvPr/>
        </p:nvPicPr>
        <p:blipFill>
          <a:blip r:embed="rId1"/>
          <a:stretch/>
        </p:blipFill>
        <p:spPr>
          <a:xfrm>
            <a:off x="550080" y="1325880"/>
            <a:ext cx="11091240" cy="3812400"/>
          </a:xfrm>
          <a:prstGeom prst="rect">
            <a:avLst/>
          </a:prstGeom>
          <a:noFill/>
          <a:ln w="0">
            <a:noFill/>
          </a:ln>
        </p:spPr>
      </p:pic>
      <p:sp>
        <p:nvSpPr>
          <p:cNvPr id="67" name="Figures callout"/>
          <p:cNvSpPr/>
          <p:nvPr/>
        </p:nvSpPr>
        <p:spPr>
          <a:xfrm>
            <a:off x="548640" y="5623560"/>
            <a:ext cx="11091240" cy="658080"/>
          </a:xfrm>
          <a:prstGeom prst="roundRect">
            <a:avLst>
              <a:gd name="adj" fmla="val 16667"/>
            </a:avLst>
          </a:prstGeom>
          <a:solidFill>
            <a:schemeClr val="bg2"/>
          </a:solidFill>
          <a:ln w="0">
            <a:noFill/>
          </a:ln>
        </p:spPr>
        <p:style>
          <a:lnRef idx="0"/>
          <a:fillRef idx="0"/>
          <a:effectRef idx="0"/>
          <a:fontRef idx="minor"/>
        </p:style>
        <p:txBody>
          <a:bodyPr lIns="90000" tIns="45000" rIns="90000" bIns="45000" anchor="t">
            <a:noAutofit/>
          </a:bodyPr>
          <a:p>
            <a:endParaRPr lang="pt-PT" sz="1800" b="0" u="none" strike="noStrike">
              <a:solidFill>
                <a:srgbClr val="000000"/>
              </a:solidFill>
              <a:effectLst/>
              <a:uFillTx/>
              <a:latin typeface="Arial"/>
            </a:endParaRPr>
          </a:p>
        </p:txBody>
      </p:sp>
      <p:sp>
        <p:nvSpPr>
          <p:cNvPr id="68" name="Figures badge"/>
          <p:cNvSpPr/>
          <p:nvPr/>
        </p:nvSpPr>
        <p:spPr>
          <a:xfrm>
            <a:off x="731520" y="5751720"/>
            <a:ext cx="402120" cy="402120"/>
          </a:xfrm>
          <a:prstGeom prst="ellipse">
            <a:avLst/>
          </a:prstGeom>
          <a:solidFill>
            <a:schemeClr val="accent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chemeClr val="lt1"/>
                </a:solidFill>
                <a:effectLst/>
                <a:uFillTx/>
                <a:latin typeface="Calibri"/>
              </a:rPr>
              <a:t>€</a:t>
            </a:r>
            <a:endParaRPr lang="pt-PT" sz="1600" b="0" u="none" strike="noStrike">
              <a:solidFill>
                <a:srgbClr val="FFFFFF"/>
              </a:solidFill>
              <a:effectLst/>
              <a:uFillTx/>
              <a:latin typeface="Arial"/>
            </a:endParaRPr>
          </a:p>
        </p:txBody>
      </p:sp>
      <p:sp>
        <p:nvSpPr>
          <p:cNvPr id="69" name="Figures text"/>
          <p:cNvSpPr/>
          <p:nvPr/>
        </p:nvSpPr>
        <p:spPr>
          <a:xfrm>
            <a:off x="1325880" y="5650920"/>
            <a:ext cx="10149480" cy="603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chemeClr val="dk1"/>
                </a:solidFill>
                <a:effectLst/>
                <a:uFillTx/>
                <a:latin typeface="Calibri"/>
              </a:rPr>
              <a:t>Where the figures come from: </a:t>
            </a:r>
            <a:r>
              <a:rPr lang="en-US" sz="1400" b="0" u="none" strike="noStrike">
                <a:solidFill>
                  <a:schemeClr val="dk1"/>
                </a:solidFill>
                <a:effectLst/>
                <a:uFillTx/>
                <a:latin typeface="Calibri"/>
              </a:rPr>
              <a:t>the income and costs entered are stored as rows of the calculation; their sums are saved as total_income and total_costs, and a CHECK guarantees profit_or_loss = total_income − total_costs.</a:t>
            </a:r>
            <a:endParaRPr lang="pt-PT" sz="1400" b="0" u="none" strike="noStrike">
              <a:solidFill>
                <a:srgbClr val="000000"/>
              </a:solidFill>
              <a:effectLst/>
              <a:uFillTx/>
              <a:latin typeface="Arial"/>
            </a:endParaRPr>
          </a:p>
        </p:txBody>
      </p:sp>
      <p:sp>
        <p:nvSpPr>
          <p:cNvPr id="70" name="PlaceHolder 2"/>
          <p:cNvSpPr>
            <a:spLocks noGrp="1"/>
          </p:cNvSpPr>
          <p:nvPr>
            <p:ph type="sldNum" idx="8"/>
          </p:nvPr>
        </p:nvSpPr>
        <p:spPr>
          <a:xfrm>
            <a:off x="11183040" y="6419160"/>
            <a:ext cx="456840" cy="273960"/>
          </a:xfrm>
          <a:prstGeom prst="rect">
            <a:avLst/>
          </a:prstGeom>
          <a:noFill/>
          <a:ln w="0">
            <a:noFill/>
          </a:ln>
        </p:spPr>
        <p:txBody>
          <a:bodyPr lIns="0" tIns="0" rIns="0" bIns="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2C704A0E-401B-4B5C-A345-B63B519BD50D}" type="slidenum">
              <a:rPr lang="en-US" sz="1000" b="0" u="none" strike="noStrike">
                <a:solidFill>
                  <a:schemeClr val="accent6"/>
                </a:solidFill>
                <a:effectLst/>
                <a:uFillTx/>
                <a:latin typeface="Calibri"/>
              </a:rPr>
              <a:t>&lt;número&gt;</a:t>
            </a:fld>
            <a:endParaRPr lang="pt-PT"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title" hasCustomPrompt="1"/>
          </p:nvPr>
        </p:nvSpPr>
        <p:spPr>
          <a:xfrm>
            <a:off x="548640" y="365760"/>
            <a:ext cx="1109124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400" b="1" u="none" strike="noStrike">
                <a:solidFill>
                  <a:schemeClr val="dk2"/>
                </a:solidFill>
                <a:effectLst/>
                <a:uFillTx/>
                <a:latin typeface="Calibri"/>
              </a:rPr>
              <a:t>Calculation flow</a:t>
            </a:r>
            <a:endParaRPr lang="pt-PT" sz="3400" b="0" u="none" strike="noStrike">
              <a:solidFill>
                <a:schemeClr val="dk1"/>
              </a:solidFill>
              <a:effectLst/>
              <a:uFillTx/>
              <a:latin typeface="Calibri"/>
            </a:endParaRPr>
          </a:p>
        </p:txBody>
      </p:sp>
      <p:pic>
        <p:nvPicPr>
          <p:cNvPr id="72" name="Sequence diagram" descr="Sequence: user, Angular page and service, controller, service, repositories and H2 for POST profit-calculations"/>
          <p:cNvPicPr/>
          <p:nvPr/>
        </p:nvPicPr>
        <p:blipFill>
          <a:blip r:embed="rId1"/>
          <a:stretch/>
        </p:blipFill>
        <p:spPr>
          <a:xfrm>
            <a:off x="792360" y="1188720"/>
            <a:ext cx="10606680" cy="4971600"/>
          </a:xfrm>
          <a:prstGeom prst="rect">
            <a:avLst/>
          </a:prstGeom>
          <a:noFill/>
          <a:ln w="0">
            <a:noFill/>
          </a:ln>
        </p:spPr>
      </p:pic>
      <p:sp>
        <p:nvSpPr>
          <p:cNvPr id="73" name="PlaceHolder 2"/>
          <p:cNvSpPr>
            <a:spLocks noGrp="1"/>
          </p:cNvSpPr>
          <p:nvPr>
            <p:ph type="sldNum" idx="9"/>
          </p:nvPr>
        </p:nvSpPr>
        <p:spPr>
          <a:xfrm>
            <a:off x="11183040" y="6419160"/>
            <a:ext cx="456840" cy="273960"/>
          </a:xfrm>
          <a:prstGeom prst="rect">
            <a:avLst/>
          </a:prstGeom>
          <a:noFill/>
          <a:ln w="0">
            <a:noFill/>
          </a:ln>
        </p:spPr>
        <p:txBody>
          <a:bodyPr lIns="0" tIns="0" rIns="0" bIns="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DD42D1C2-0C2D-487D-A996-4F0B1B3B9A6F}" type="slidenum">
              <a:rPr lang="en-US" sz="1000" b="0" u="none" strike="noStrike">
                <a:solidFill>
                  <a:schemeClr val="accent6"/>
                </a:solidFill>
                <a:effectLst/>
                <a:uFillTx/>
                <a:latin typeface="Calibri"/>
              </a:rPr>
              <a:t>&lt;número&gt;</a:t>
            </a:fld>
            <a:endParaRPr lang="pt-PT"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title" hasCustomPrompt="1"/>
          </p:nvPr>
        </p:nvSpPr>
        <p:spPr>
          <a:xfrm>
            <a:off x="548640" y="365760"/>
            <a:ext cx="1109124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400" b="1" u="none" strike="noStrike">
                <a:solidFill>
                  <a:schemeClr val="dk2"/>
                </a:solidFill>
                <a:effectLst/>
                <a:uFillTx/>
                <a:latin typeface="Calibri"/>
              </a:rPr>
              <a:t>Implementation and demonstration</a:t>
            </a:r>
            <a:endParaRPr lang="pt-PT" sz="3400" b="0" u="none" strike="noStrike">
              <a:solidFill>
                <a:schemeClr val="dk1"/>
              </a:solidFill>
              <a:effectLst/>
              <a:uFillTx/>
              <a:latin typeface="Calibri"/>
            </a:endParaRPr>
          </a:p>
        </p:txBody>
      </p:sp>
      <p:sp>
        <p:nvSpPr>
          <p:cNvPr id="75" name="App screenshot frame"/>
          <p:cNvSpPr/>
          <p:nvPr/>
        </p:nvSpPr>
        <p:spPr>
          <a:xfrm>
            <a:off x="530280" y="1307520"/>
            <a:ext cx="6802920" cy="3466440"/>
          </a:xfrm>
          <a:prstGeom prst="rect">
            <a:avLst/>
          </a:prstGeom>
          <a:solidFill>
            <a:schemeClr val="bg1"/>
          </a:solidFill>
          <a:ln w="12700">
            <a:solidFill>
              <a:srgbClr val="D5DCE4"/>
            </a:solidFill>
            <a:round/>
          </a:ln>
          <a:effectLst>
            <a:outerShdw algn="bl" blurRad="76320" dir="5400000" dist="25560" kx="0" ky="0" rotWithShape="0" sx="100000" sy="100000">
              <a:srgbClr val="0B1A2A">
                <a:alpha val="14000"/>
              </a:srgbClr>
            </a:outerShdw>
          </a:effectLst>
        </p:spPr>
        <p:style>
          <a:lnRef idx="0"/>
          <a:fillRef idx="0"/>
          <a:effectRef idx="0"/>
          <a:fontRef idx="minor"/>
        </p:style>
        <p:txBody>
          <a:bodyPr lIns="90000" tIns="45000" rIns="90000" bIns="45000" anchor="t">
            <a:noAutofit/>
          </a:bodyPr>
          <a:p>
            <a:endParaRPr lang="pt-PT" sz="1800" b="0" u="none" strike="noStrike">
              <a:solidFill>
                <a:srgbClr val="000000"/>
              </a:solidFill>
              <a:effectLst/>
              <a:uFillTx/>
              <a:latin typeface="Arial"/>
            </a:endParaRPr>
          </a:p>
        </p:txBody>
      </p:sp>
      <p:pic>
        <p:nvPicPr>
          <p:cNvPr id="76" name="App screenshot" descr="App screenshot"/>
          <p:cNvPicPr/>
          <p:nvPr/>
        </p:nvPicPr>
        <p:blipFill>
          <a:blip r:embed="rId1"/>
          <a:stretch/>
        </p:blipFill>
        <p:spPr>
          <a:xfrm>
            <a:off x="548640" y="1325880"/>
            <a:ext cx="6766200" cy="3430080"/>
          </a:xfrm>
          <a:prstGeom prst="rect">
            <a:avLst/>
          </a:prstGeom>
          <a:noFill/>
          <a:ln w="0">
            <a:noFill/>
          </a:ln>
        </p:spPr>
      </p:pic>
      <p:sp>
        <p:nvSpPr>
          <p:cNvPr id="77" name="Screenshot caption"/>
          <p:cNvSpPr/>
          <p:nvPr/>
        </p:nvSpPr>
        <p:spPr>
          <a:xfrm>
            <a:off x="548640" y="4865760"/>
            <a:ext cx="67662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i="1" u="none" strike="noStrike">
                <a:solidFill>
                  <a:schemeClr val="accent6"/>
                </a:solidFill>
                <a:effectLst/>
                <a:uFillTx/>
                <a:latin typeface="Calibri"/>
              </a:rPr>
              <a:t>The running app: SHP-0001 history with profits in green and a loss in red.</a:t>
            </a:r>
            <a:endParaRPr lang="pt-PT" sz="1200" b="0" u="none" strike="noStrike">
              <a:solidFill>
                <a:srgbClr val="000000"/>
              </a:solidFill>
              <a:effectLst/>
              <a:uFillTx/>
              <a:latin typeface="Arial"/>
            </a:endParaRPr>
          </a:p>
        </p:txBody>
      </p:sp>
      <p:sp>
        <p:nvSpPr>
          <p:cNvPr id="78" name="Demo step 1"/>
          <p:cNvSpPr/>
          <p:nvPr/>
        </p:nvSpPr>
        <p:spPr>
          <a:xfrm>
            <a:off x="548640" y="5440680"/>
            <a:ext cx="411120" cy="411120"/>
          </a:xfrm>
          <a:prstGeom prst="ellipse">
            <a:avLst/>
          </a:prstGeom>
          <a:solidFill>
            <a:schemeClr val="tx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chemeClr val="lt1"/>
                </a:solidFill>
                <a:effectLst/>
                <a:uFillTx/>
                <a:latin typeface="Calibri"/>
              </a:rPr>
              <a:t>1</a:t>
            </a:r>
            <a:endParaRPr lang="pt-PT" sz="1300" b="0" u="none" strike="noStrike">
              <a:solidFill>
                <a:srgbClr val="FFFFFF"/>
              </a:solidFill>
              <a:effectLst/>
              <a:uFillTx/>
              <a:latin typeface="Arial"/>
            </a:endParaRPr>
          </a:p>
        </p:txBody>
      </p:sp>
      <p:sp>
        <p:nvSpPr>
          <p:cNvPr id="79" name="Demo step text 1"/>
          <p:cNvSpPr/>
          <p:nvPr/>
        </p:nvSpPr>
        <p:spPr>
          <a:xfrm>
            <a:off x="1051560" y="5440680"/>
            <a:ext cx="12340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chemeClr val="dk1"/>
                </a:solidFill>
                <a:effectLst/>
                <a:uFillTx/>
                <a:latin typeface="Calibri"/>
              </a:rPr>
              <a:t>Pick a shipment</a:t>
            </a:r>
            <a:endParaRPr lang="pt-PT" sz="1400" b="0" u="none" strike="noStrike">
              <a:solidFill>
                <a:srgbClr val="000000"/>
              </a:solidFill>
              <a:effectLst/>
              <a:uFillTx/>
              <a:latin typeface="Arial"/>
            </a:endParaRPr>
          </a:p>
        </p:txBody>
      </p:sp>
      <p:sp>
        <p:nvSpPr>
          <p:cNvPr id="80" name="Demo step 2"/>
          <p:cNvSpPr/>
          <p:nvPr/>
        </p:nvSpPr>
        <p:spPr>
          <a:xfrm>
            <a:off x="2395800" y="5440680"/>
            <a:ext cx="411120" cy="411120"/>
          </a:xfrm>
          <a:prstGeom prst="ellipse">
            <a:avLst/>
          </a:prstGeom>
          <a:solidFill>
            <a:schemeClr val="tx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chemeClr val="lt1"/>
                </a:solidFill>
                <a:effectLst/>
                <a:uFillTx/>
                <a:latin typeface="Calibri"/>
              </a:rPr>
              <a:t>2</a:t>
            </a:r>
            <a:endParaRPr lang="pt-PT" sz="1300" b="0" u="none" strike="noStrike">
              <a:solidFill>
                <a:srgbClr val="FFFFFF"/>
              </a:solidFill>
              <a:effectLst/>
              <a:uFillTx/>
              <a:latin typeface="Arial"/>
            </a:endParaRPr>
          </a:p>
        </p:txBody>
      </p:sp>
      <p:sp>
        <p:nvSpPr>
          <p:cNvPr id="81" name="Demo step text 2"/>
          <p:cNvSpPr/>
          <p:nvPr/>
        </p:nvSpPr>
        <p:spPr>
          <a:xfrm>
            <a:off x="2898720" y="5440680"/>
            <a:ext cx="10054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chemeClr val="dk1"/>
                </a:solidFill>
                <a:effectLst/>
                <a:uFillTx/>
                <a:latin typeface="Calibri"/>
              </a:rPr>
              <a:t>Enter values</a:t>
            </a:r>
            <a:endParaRPr lang="pt-PT" sz="1400" b="0" u="none" strike="noStrike">
              <a:solidFill>
                <a:srgbClr val="000000"/>
              </a:solidFill>
              <a:effectLst/>
              <a:uFillTx/>
              <a:latin typeface="Arial"/>
            </a:endParaRPr>
          </a:p>
        </p:txBody>
      </p:sp>
      <p:sp>
        <p:nvSpPr>
          <p:cNvPr id="82" name="Demo step 3"/>
          <p:cNvSpPr/>
          <p:nvPr/>
        </p:nvSpPr>
        <p:spPr>
          <a:xfrm>
            <a:off x="4014360" y="5440680"/>
            <a:ext cx="411120" cy="411120"/>
          </a:xfrm>
          <a:prstGeom prst="ellipse">
            <a:avLst/>
          </a:prstGeom>
          <a:solidFill>
            <a:schemeClr val="tx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chemeClr val="lt1"/>
                </a:solidFill>
                <a:effectLst/>
                <a:uFillTx/>
                <a:latin typeface="Calibri"/>
              </a:rPr>
              <a:t>3</a:t>
            </a:r>
            <a:endParaRPr lang="pt-PT" sz="1300" b="0" u="none" strike="noStrike">
              <a:solidFill>
                <a:srgbClr val="FFFFFF"/>
              </a:solidFill>
              <a:effectLst/>
              <a:uFillTx/>
              <a:latin typeface="Arial"/>
            </a:endParaRPr>
          </a:p>
        </p:txBody>
      </p:sp>
      <p:sp>
        <p:nvSpPr>
          <p:cNvPr id="83" name="Demo step text 3"/>
          <p:cNvSpPr/>
          <p:nvPr/>
        </p:nvSpPr>
        <p:spPr>
          <a:xfrm>
            <a:off x="4517280" y="5440680"/>
            <a:ext cx="7768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chemeClr val="dk1"/>
                </a:solidFill>
                <a:effectLst/>
                <a:uFillTx/>
                <a:latin typeface="Calibri"/>
              </a:rPr>
              <a:t>Calculate</a:t>
            </a:r>
            <a:endParaRPr lang="pt-PT" sz="1400" b="0" u="none" strike="noStrike">
              <a:solidFill>
                <a:srgbClr val="000000"/>
              </a:solidFill>
              <a:effectLst/>
              <a:uFillTx/>
              <a:latin typeface="Arial"/>
            </a:endParaRPr>
          </a:p>
        </p:txBody>
      </p:sp>
      <p:sp>
        <p:nvSpPr>
          <p:cNvPr id="84" name="Demo step 4"/>
          <p:cNvSpPr/>
          <p:nvPr/>
        </p:nvSpPr>
        <p:spPr>
          <a:xfrm>
            <a:off x="5403960" y="5440680"/>
            <a:ext cx="411120" cy="411120"/>
          </a:xfrm>
          <a:prstGeom prst="ellipse">
            <a:avLst/>
          </a:prstGeom>
          <a:solidFill>
            <a:schemeClr val="tx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chemeClr val="lt1"/>
                </a:solidFill>
                <a:effectLst/>
                <a:uFillTx/>
                <a:latin typeface="Calibri"/>
              </a:rPr>
              <a:t>4</a:t>
            </a:r>
            <a:endParaRPr lang="pt-PT" sz="1300" b="0" u="none" strike="noStrike">
              <a:solidFill>
                <a:srgbClr val="FFFFFF"/>
              </a:solidFill>
              <a:effectLst/>
              <a:uFillTx/>
              <a:latin typeface="Arial"/>
            </a:endParaRPr>
          </a:p>
        </p:txBody>
      </p:sp>
      <p:sp>
        <p:nvSpPr>
          <p:cNvPr id="85" name="Demo step text 4"/>
          <p:cNvSpPr/>
          <p:nvPr/>
        </p:nvSpPr>
        <p:spPr>
          <a:xfrm>
            <a:off x="5906880" y="5440680"/>
            <a:ext cx="141696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chemeClr val="dk1"/>
                </a:solidFill>
                <a:effectLst/>
                <a:uFillTx/>
                <a:latin typeface="Calibri"/>
              </a:rPr>
              <a:t>Row added on top</a:t>
            </a:r>
            <a:endParaRPr lang="pt-PT" sz="1400" b="0" u="none" strike="noStrike">
              <a:solidFill>
                <a:srgbClr val="000000"/>
              </a:solidFill>
              <a:effectLst/>
              <a:uFillTx/>
              <a:latin typeface="Arial"/>
            </a:endParaRPr>
          </a:p>
        </p:txBody>
      </p:sp>
      <p:sp>
        <p:nvSpPr>
          <p:cNvPr id="86" name="Sample card"/>
          <p:cNvSpPr/>
          <p:nvPr/>
        </p:nvSpPr>
        <p:spPr>
          <a:xfrm>
            <a:off x="7589520" y="1325880"/>
            <a:ext cx="4050360" cy="2148480"/>
          </a:xfrm>
          <a:prstGeom prst="roundRect">
            <a:avLst>
              <a:gd name="adj" fmla="val 5106"/>
            </a:avLst>
          </a:prstGeom>
          <a:solidFill>
            <a:schemeClr val="bg2"/>
          </a:solidFill>
          <a:ln w="0">
            <a:noFill/>
          </a:ln>
        </p:spPr>
        <p:style>
          <a:lnRef idx="0"/>
          <a:fillRef idx="0"/>
          <a:effectRef idx="0"/>
          <a:fontRef idx="minor"/>
        </p:style>
        <p:txBody>
          <a:bodyPr lIns="90000" tIns="45000" rIns="90000" bIns="45000" anchor="t">
            <a:noAutofit/>
          </a:bodyPr>
          <a:p>
            <a:endParaRPr lang="pt-PT" sz="1800" b="0" u="none" strike="noStrike">
              <a:solidFill>
                <a:srgbClr val="000000"/>
              </a:solidFill>
              <a:effectLst/>
              <a:uFillTx/>
              <a:latin typeface="Arial"/>
            </a:endParaRPr>
          </a:p>
        </p:txBody>
      </p:sp>
      <p:sp>
        <p:nvSpPr>
          <p:cNvPr id="87" name="Sample heading"/>
          <p:cNvSpPr/>
          <p:nvPr/>
        </p:nvSpPr>
        <p:spPr>
          <a:xfrm>
            <a:off x="7863840" y="1481400"/>
            <a:ext cx="356580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chemeClr val="dk1"/>
                </a:solidFill>
                <a:effectLst/>
                <a:uFillTx/>
                <a:latin typeface="Calibri"/>
              </a:rPr>
              <a:t>Sample calculation</a:t>
            </a:r>
            <a:endParaRPr lang="pt-PT" sz="1600" b="0" u="none" strike="noStrike">
              <a:solidFill>
                <a:srgbClr val="000000"/>
              </a:solidFill>
              <a:effectLst/>
              <a:uFillTx/>
              <a:latin typeface="Arial"/>
            </a:endParaRPr>
          </a:p>
        </p:txBody>
      </p:sp>
      <p:sp>
        <p:nvSpPr>
          <p:cNvPr id="88" name="Sample label Income"/>
          <p:cNvSpPr/>
          <p:nvPr/>
        </p:nvSpPr>
        <p:spPr>
          <a:xfrm>
            <a:off x="7863840" y="1874520"/>
            <a:ext cx="20113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chemeClr val="dk1"/>
                </a:solidFill>
                <a:effectLst/>
                <a:uFillTx/>
                <a:latin typeface="Calibri"/>
              </a:rPr>
              <a:t>Income</a:t>
            </a:r>
            <a:endParaRPr lang="pt-PT" sz="1500" b="0" u="none" strike="noStrike">
              <a:solidFill>
                <a:srgbClr val="000000"/>
              </a:solidFill>
              <a:effectLst/>
              <a:uFillTx/>
              <a:latin typeface="Arial"/>
            </a:endParaRPr>
          </a:p>
        </p:txBody>
      </p:sp>
      <p:sp>
        <p:nvSpPr>
          <p:cNvPr id="89" name="Sample value Income"/>
          <p:cNvSpPr/>
          <p:nvPr/>
        </p:nvSpPr>
        <p:spPr>
          <a:xfrm>
            <a:off x="9509760" y="1874520"/>
            <a:ext cx="1874160" cy="2923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500" b="0" u="none" strike="noStrike">
                <a:solidFill>
                  <a:schemeClr val="accent2"/>
                </a:solidFill>
                <a:effectLst/>
                <a:uFillTx/>
                <a:latin typeface="Calibri"/>
              </a:rPr>
              <a:t>1,000.00</a:t>
            </a:r>
            <a:endParaRPr lang="pt-PT" sz="1500" b="0" u="none" strike="noStrike">
              <a:solidFill>
                <a:srgbClr val="000000"/>
              </a:solidFill>
              <a:effectLst/>
              <a:uFillTx/>
              <a:latin typeface="Arial"/>
            </a:endParaRPr>
          </a:p>
        </p:txBody>
      </p:sp>
      <p:sp>
        <p:nvSpPr>
          <p:cNvPr id="90" name="Sample label Cost"/>
          <p:cNvSpPr/>
          <p:nvPr/>
        </p:nvSpPr>
        <p:spPr>
          <a:xfrm>
            <a:off x="7863840" y="2203560"/>
            <a:ext cx="20113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chemeClr val="dk1"/>
                </a:solidFill>
                <a:effectLst/>
                <a:uFillTx/>
                <a:latin typeface="Calibri"/>
              </a:rPr>
              <a:t>Cost</a:t>
            </a:r>
            <a:endParaRPr lang="pt-PT" sz="1500" b="0" u="none" strike="noStrike">
              <a:solidFill>
                <a:srgbClr val="000000"/>
              </a:solidFill>
              <a:effectLst/>
              <a:uFillTx/>
              <a:latin typeface="Arial"/>
            </a:endParaRPr>
          </a:p>
        </p:txBody>
      </p:sp>
      <p:sp>
        <p:nvSpPr>
          <p:cNvPr id="91" name="Sample value Cost"/>
          <p:cNvSpPr/>
          <p:nvPr/>
        </p:nvSpPr>
        <p:spPr>
          <a:xfrm>
            <a:off x="9509760" y="2203560"/>
            <a:ext cx="1874160" cy="2923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500" b="0" u="none" strike="noStrike">
                <a:solidFill>
                  <a:schemeClr val="accent3"/>
                </a:solidFill>
                <a:effectLst/>
                <a:uFillTx/>
                <a:latin typeface="Calibri"/>
              </a:rPr>
              <a:t>150.00</a:t>
            </a:r>
            <a:endParaRPr lang="pt-PT" sz="1500" b="0" u="none" strike="noStrike">
              <a:solidFill>
                <a:srgbClr val="000000"/>
              </a:solidFill>
              <a:effectLst/>
              <a:uFillTx/>
              <a:latin typeface="Arial"/>
            </a:endParaRPr>
          </a:p>
        </p:txBody>
      </p:sp>
      <p:sp>
        <p:nvSpPr>
          <p:cNvPr id="92" name="Sample label Additional cost"/>
          <p:cNvSpPr/>
          <p:nvPr/>
        </p:nvSpPr>
        <p:spPr>
          <a:xfrm>
            <a:off x="7863840" y="2532960"/>
            <a:ext cx="20113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chemeClr val="dk1"/>
                </a:solidFill>
                <a:effectLst/>
                <a:uFillTx/>
                <a:latin typeface="Calibri"/>
              </a:rPr>
              <a:t>Additional cost</a:t>
            </a:r>
            <a:endParaRPr lang="pt-PT" sz="1500" b="0" u="none" strike="noStrike">
              <a:solidFill>
                <a:srgbClr val="000000"/>
              </a:solidFill>
              <a:effectLst/>
              <a:uFillTx/>
              <a:latin typeface="Arial"/>
            </a:endParaRPr>
          </a:p>
        </p:txBody>
      </p:sp>
      <p:sp>
        <p:nvSpPr>
          <p:cNvPr id="93" name="Sample value Additional cost"/>
          <p:cNvSpPr/>
          <p:nvPr/>
        </p:nvSpPr>
        <p:spPr>
          <a:xfrm>
            <a:off x="9509760" y="2532960"/>
            <a:ext cx="1874160" cy="2923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500" b="0" u="none" strike="noStrike">
                <a:solidFill>
                  <a:schemeClr val="accent3"/>
                </a:solidFill>
                <a:effectLst/>
                <a:uFillTx/>
                <a:latin typeface="Calibri"/>
              </a:rPr>
              <a:t>50.00</a:t>
            </a:r>
            <a:endParaRPr lang="pt-PT" sz="1500" b="0" u="none" strike="noStrike">
              <a:solidFill>
                <a:srgbClr val="000000"/>
              </a:solidFill>
              <a:effectLst/>
              <a:uFillTx/>
              <a:latin typeface="Arial"/>
            </a:endParaRPr>
          </a:p>
        </p:txBody>
      </p:sp>
      <p:sp>
        <p:nvSpPr>
          <p:cNvPr id="94" name="Sample divider"/>
          <p:cNvSpPr/>
          <p:nvPr/>
        </p:nvSpPr>
        <p:spPr>
          <a:xfrm>
            <a:off x="7863840" y="2907720"/>
            <a:ext cx="3520440" cy="360"/>
          </a:xfrm>
          <a:prstGeom prst="line">
            <a:avLst/>
          </a:prstGeom>
          <a:ln w="12700">
            <a:solidFill>
              <a:srgbClr val="D5DCE4"/>
            </a:solidFill>
            <a:round/>
          </a:ln>
        </p:spPr>
        <p:style>
          <a:lnRef idx="0"/>
          <a:fillRef idx="0"/>
          <a:effectRef idx="0"/>
          <a:fontRef idx="minor"/>
        </p:style>
        <p:txBody>
          <a:bodyPr lIns="90000" tIns="-44640" rIns="90000" bIns="-44640" anchor="t" anchorCtr="1">
            <a:noAutofit/>
          </a:bodyPr>
          <a:p>
            <a:endParaRPr lang="pt-PT" sz="1800" b="0" u="none" strike="noStrike">
              <a:solidFill>
                <a:srgbClr val="000000"/>
              </a:solidFill>
              <a:effectLst/>
              <a:uFillTx/>
              <a:latin typeface="Arial"/>
            </a:endParaRPr>
          </a:p>
        </p:txBody>
      </p:sp>
      <p:sp>
        <p:nvSpPr>
          <p:cNvPr id="95" name="Sample result label"/>
          <p:cNvSpPr/>
          <p:nvPr/>
        </p:nvSpPr>
        <p:spPr>
          <a:xfrm>
            <a:off x="7863840" y="2971800"/>
            <a:ext cx="201132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Calibri"/>
              </a:rPr>
              <a:t>Profit</a:t>
            </a:r>
            <a:endParaRPr lang="pt-PT" sz="1800" b="0" u="none" strike="noStrike">
              <a:solidFill>
                <a:srgbClr val="000000"/>
              </a:solidFill>
              <a:effectLst/>
              <a:uFillTx/>
              <a:latin typeface="Arial"/>
            </a:endParaRPr>
          </a:p>
        </p:txBody>
      </p:sp>
      <p:sp>
        <p:nvSpPr>
          <p:cNvPr id="96" name="Sample result value"/>
          <p:cNvSpPr/>
          <p:nvPr/>
        </p:nvSpPr>
        <p:spPr>
          <a:xfrm>
            <a:off x="9509760" y="2971800"/>
            <a:ext cx="1874160" cy="3837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2200" b="1" u="none" strike="noStrike">
                <a:solidFill>
                  <a:schemeClr val="accent2"/>
                </a:solidFill>
                <a:effectLst/>
                <a:uFillTx/>
                <a:latin typeface="Calibri"/>
              </a:rPr>
              <a:t>800.00</a:t>
            </a:r>
            <a:endParaRPr lang="pt-PT" sz="2200" b="0" u="none" strike="noStrike">
              <a:solidFill>
                <a:srgbClr val="000000"/>
              </a:solidFill>
              <a:effectLst/>
              <a:uFillTx/>
              <a:latin typeface="Arial"/>
            </a:endParaRPr>
          </a:p>
        </p:txBody>
      </p:sp>
      <p:sp>
        <p:nvSpPr>
          <p:cNvPr id="97" name="Detail card"/>
          <p:cNvSpPr/>
          <p:nvPr/>
        </p:nvSpPr>
        <p:spPr>
          <a:xfrm>
            <a:off x="7589520" y="3657600"/>
            <a:ext cx="4050360" cy="2559960"/>
          </a:xfrm>
          <a:prstGeom prst="roundRect">
            <a:avLst>
              <a:gd name="adj" fmla="val 4286"/>
            </a:avLst>
          </a:prstGeom>
          <a:solidFill>
            <a:schemeClr val="bg2"/>
          </a:solidFill>
          <a:ln w="0">
            <a:noFill/>
          </a:ln>
        </p:spPr>
        <p:style>
          <a:lnRef idx="0"/>
          <a:fillRef idx="0"/>
          <a:effectRef idx="0"/>
          <a:fontRef idx="minor"/>
        </p:style>
        <p:txBody>
          <a:bodyPr lIns="90000" tIns="45000" rIns="90000" bIns="45000" anchor="t">
            <a:noAutofit/>
          </a:bodyPr>
          <a:p>
            <a:endParaRPr lang="pt-PT" sz="1800" b="0" u="none" strike="noStrike">
              <a:solidFill>
                <a:srgbClr val="000000"/>
              </a:solidFill>
              <a:effectLst/>
              <a:uFillTx/>
              <a:latin typeface="Arial"/>
            </a:endParaRPr>
          </a:p>
        </p:txBody>
      </p:sp>
      <p:sp>
        <p:nvSpPr>
          <p:cNvPr id="98" name="Detail heading"/>
          <p:cNvSpPr/>
          <p:nvPr/>
        </p:nvSpPr>
        <p:spPr>
          <a:xfrm>
            <a:off x="7863840" y="3794760"/>
            <a:ext cx="35658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chemeClr val="dk1"/>
                </a:solidFill>
                <a:effectLst/>
                <a:uFillTx/>
                <a:latin typeface="Calibri"/>
              </a:rPr>
              <a:t>Detail: one calculation, one transaction</a:t>
            </a:r>
            <a:endParaRPr lang="pt-PT" sz="1600" b="0" u="none" strike="noStrike">
              <a:solidFill>
                <a:srgbClr val="000000"/>
              </a:solidFill>
              <a:effectLst/>
              <a:uFillTx/>
              <a:latin typeface="Arial"/>
            </a:endParaRPr>
          </a:p>
        </p:txBody>
      </p:sp>
      <p:sp>
        <p:nvSpPr>
          <p:cNvPr id="99" name="Detail body"/>
          <p:cNvSpPr/>
          <p:nvPr/>
        </p:nvSpPr>
        <p:spPr>
          <a:xfrm>
            <a:off x="7863840" y="4206240"/>
            <a:ext cx="3565800" cy="11883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1"/>
                </a:solidFill>
                <a:effectLst/>
                <a:uFillTx/>
                <a:latin typeface="Calibri"/>
              </a:rPr>
              <a:t>ProfitCalculation owns its Income and Cost rows (cascade ALL), so one save() in a @Transactional method writes all of them — and a CHECK rejects any row where profit ≠ income − costs.</a:t>
            </a:r>
            <a:endParaRPr lang="pt-PT" sz="1400" b="0" u="none" strike="noStrike">
              <a:solidFill>
                <a:srgbClr val="000000"/>
              </a:solidFill>
              <a:effectLst/>
              <a:uFillTx/>
              <a:latin typeface="Arial"/>
            </a:endParaRPr>
          </a:p>
        </p:txBody>
      </p:sp>
      <p:sp>
        <p:nvSpPr>
          <p:cNvPr id="100" name="Detail code"/>
          <p:cNvSpPr/>
          <p:nvPr/>
        </p:nvSpPr>
        <p:spPr>
          <a:xfrm>
            <a:off x="7863840" y="5440680"/>
            <a:ext cx="356580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chemeClr val="dk2"/>
                </a:solidFill>
                <a:effectLst/>
                <a:uFillTx/>
                <a:latin typeface="Consolas"/>
                <a:ea typeface="Consolas"/>
              </a:rPr>
              <a:t>calculation.addIncome(newIncome(income));</a:t>
            </a:r>
            <a:endParaRPr lang="pt-PT"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chemeClr val="dk2"/>
                </a:solidFill>
                <a:effectLst/>
                <a:uFillTx/>
                <a:latin typeface="Consolas"/>
                <a:ea typeface="Consolas"/>
              </a:rPr>
              <a:t>calculation.addCost(newCost(COST, cost));</a:t>
            </a:r>
            <a:endParaRPr lang="pt-PT"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chemeClr val="dk2"/>
                </a:solidFill>
                <a:effectLst/>
                <a:uFillTx/>
                <a:latin typeface="Consolas"/>
                <a:ea typeface="Consolas"/>
              </a:rPr>
              <a:t>repository.save(calculation);</a:t>
            </a:r>
            <a:endParaRPr lang="pt-PT" sz="1100" b="0" u="none" strike="noStrike">
              <a:solidFill>
                <a:srgbClr val="000000"/>
              </a:solidFill>
              <a:effectLst/>
              <a:uFillTx/>
              <a:latin typeface="Arial"/>
            </a:endParaRPr>
          </a:p>
        </p:txBody>
      </p:sp>
      <p:sp>
        <p:nvSpPr>
          <p:cNvPr id="101" name="PlaceHolder 2"/>
          <p:cNvSpPr>
            <a:spLocks noGrp="1"/>
          </p:cNvSpPr>
          <p:nvPr>
            <p:ph type="sldNum" idx="10"/>
          </p:nvPr>
        </p:nvSpPr>
        <p:spPr>
          <a:xfrm>
            <a:off x="11183040" y="6419160"/>
            <a:ext cx="456840" cy="273960"/>
          </a:xfrm>
          <a:prstGeom prst="rect">
            <a:avLst/>
          </a:prstGeom>
          <a:noFill/>
          <a:ln w="0">
            <a:noFill/>
          </a:ln>
        </p:spPr>
        <p:txBody>
          <a:bodyPr lIns="0" tIns="0" rIns="0" bIns="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07D0B650-0C84-4CA1-AD96-F2424B059F7F}" type="slidenum">
              <a:rPr lang="en-US" sz="1000" b="0" u="none" strike="noStrike">
                <a:solidFill>
                  <a:schemeClr val="accent6"/>
                </a:solidFill>
                <a:effectLst/>
                <a:uFillTx/>
                <a:latin typeface="Calibri"/>
              </a:rPr>
              <a:t>&lt;número&gt;</a:t>
            </a:fld>
            <a:endParaRPr lang="pt-PT"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hasCustomPrompt="1"/>
          </p:nvPr>
        </p:nvSpPr>
        <p:spPr>
          <a:xfrm>
            <a:off x="548640" y="365760"/>
            <a:ext cx="1109124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400" b="1" u="none" strike="noStrike">
                <a:solidFill>
                  <a:schemeClr val="dk2"/>
                </a:solidFill>
                <a:effectLst/>
                <a:uFillTx/>
                <a:latin typeface="Calibri"/>
              </a:rPr>
              <a:t>Testing and edge cases</a:t>
            </a:r>
            <a:endParaRPr lang="pt-PT" sz="3400" b="0" u="none" strike="noStrike">
              <a:solidFill>
                <a:schemeClr val="dk1"/>
              </a:solidFill>
              <a:effectLst/>
              <a:uFillTx/>
              <a:latin typeface="Calibri"/>
            </a:endParaRPr>
          </a:p>
        </p:txBody>
      </p:sp>
      <p:sp>
        <p:nvSpPr>
          <p:cNvPr id="103" name="Stat tile 1"/>
          <p:cNvSpPr/>
          <p:nvPr/>
        </p:nvSpPr>
        <p:spPr>
          <a:xfrm>
            <a:off x="548640" y="1280160"/>
            <a:ext cx="2566800" cy="1051200"/>
          </a:xfrm>
          <a:prstGeom prst="roundRect">
            <a:avLst>
              <a:gd name="adj" fmla="val 10435"/>
            </a:avLst>
          </a:prstGeom>
          <a:solidFill>
            <a:schemeClr val="tx2"/>
          </a:solidFill>
          <a:ln w="0">
            <a:noFill/>
          </a:ln>
        </p:spPr>
        <p:style>
          <a:lnRef idx="0"/>
          <a:fillRef idx="0"/>
          <a:effectRef idx="0"/>
          <a:fontRef idx="minor"/>
        </p:style>
        <p:txBody>
          <a:bodyPr lIns="90000" tIns="45000" rIns="90000" bIns="45000" anchor="t">
            <a:noAutofit/>
          </a:bodyPr>
          <a:p>
            <a:endParaRPr lang="pt-PT" sz="1800" b="0" u="none" strike="noStrike">
              <a:solidFill>
                <a:srgbClr val="FFFFFF"/>
              </a:solidFill>
              <a:effectLst/>
              <a:uFillTx/>
              <a:latin typeface="Arial"/>
            </a:endParaRPr>
          </a:p>
        </p:txBody>
      </p:sp>
      <p:sp>
        <p:nvSpPr>
          <p:cNvPr id="104" name="Stat value 1"/>
          <p:cNvSpPr/>
          <p:nvPr/>
        </p:nvSpPr>
        <p:spPr>
          <a:xfrm>
            <a:off x="822960" y="1353240"/>
            <a:ext cx="13712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600" b="1" u="none" strike="noStrike">
                <a:solidFill>
                  <a:schemeClr val="accent1"/>
                </a:solidFill>
                <a:effectLst/>
                <a:uFillTx/>
                <a:latin typeface="Calibri"/>
              </a:rPr>
              <a:t>27</a:t>
            </a:r>
            <a:endParaRPr lang="pt-PT" sz="3600" b="0" u="none" strike="noStrike">
              <a:solidFill>
                <a:srgbClr val="000000"/>
              </a:solidFill>
              <a:effectLst/>
              <a:uFillTx/>
              <a:latin typeface="Arial"/>
            </a:endParaRPr>
          </a:p>
        </p:txBody>
      </p:sp>
      <p:sp>
        <p:nvSpPr>
          <p:cNvPr id="105" name="Stat label 1"/>
          <p:cNvSpPr/>
          <p:nvPr/>
        </p:nvSpPr>
        <p:spPr>
          <a:xfrm>
            <a:off x="822960" y="1901880"/>
            <a:ext cx="210960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chemeClr val="lt1"/>
                </a:solidFill>
                <a:effectLst/>
                <a:uFillTx/>
                <a:latin typeface="Calibri"/>
              </a:rPr>
              <a:t>backend tests, all passing</a:t>
            </a:r>
            <a:endParaRPr lang="pt-PT" sz="1500" b="0" u="none" strike="noStrike">
              <a:solidFill>
                <a:srgbClr val="000000"/>
              </a:solidFill>
              <a:effectLst/>
              <a:uFillTx/>
              <a:latin typeface="Arial"/>
            </a:endParaRPr>
          </a:p>
        </p:txBody>
      </p:sp>
      <p:sp>
        <p:nvSpPr>
          <p:cNvPr id="106" name="Stat tile 2"/>
          <p:cNvSpPr/>
          <p:nvPr/>
        </p:nvSpPr>
        <p:spPr>
          <a:xfrm>
            <a:off x="3390120" y="1280160"/>
            <a:ext cx="2566800" cy="1051200"/>
          </a:xfrm>
          <a:prstGeom prst="roundRect">
            <a:avLst>
              <a:gd name="adj" fmla="val 10435"/>
            </a:avLst>
          </a:prstGeom>
          <a:solidFill>
            <a:schemeClr val="bg2"/>
          </a:solidFill>
          <a:ln w="0">
            <a:noFill/>
          </a:ln>
        </p:spPr>
        <p:style>
          <a:lnRef idx="0"/>
          <a:fillRef idx="0"/>
          <a:effectRef idx="0"/>
          <a:fontRef idx="minor"/>
        </p:style>
        <p:txBody>
          <a:bodyPr lIns="90000" tIns="45000" rIns="90000" bIns="45000" anchor="t">
            <a:noAutofit/>
          </a:bodyPr>
          <a:p>
            <a:endParaRPr lang="pt-PT" sz="1800" b="0" u="none" strike="noStrike">
              <a:solidFill>
                <a:srgbClr val="000000"/>
              </a:solidFill>
              <a:effectLst/>
              <a:uFillTx/>
              <a:latin typeface="Arial"/>
            </a:endParaRPr>
          </a:p>
        </p:txBody>
      </p:sp>
      <p:sp>
        <p:nvSpPr>
          <p:cNvPr id="107" name="Stat value 2"/>
          <p:cNvSpPr/>
          <p:nvPr/>
        </p:nvSpPr>
        <p:spPr>
          <a:xfrm>
            <a:off x="3664440" y="1353240"/>
            <a:ext cx="13712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600" b="1" u="none" strike="noStrike">
                <a:solidFill>
                  <a:schemeClr val="dk2"/>
                </a:solidFill>
                <a:effectLst/>
                <a:uFillTx/>
                <a:latin typeface="Calibri"/>
              </a:rPr>
              <a:t>9</a:t>
            </a:r>
            <a:endParaRPr lang="pt-PT" sz="3600" b="0" u="none" strike="noStrike">
              <a:solidFill>
                <a:srgbClr val="000000"/>
              </a:solidFill>
              <a:effectLst/>
              <a:uFillTx/>
              <a:latin typeface="Arial"/>
            </a:endParaRPr>
          </a:p>
        </p:txBody>
      </p:sp>
      <p:sp>
        <p:nvSpPr>
          <p:cNvPr id="108" name="Stat label 2"/>
          <p:cNvSpPr/>
          <p:nvPr/>
        </p:nvSpPr>
        <p:spPr>
          <a:xfrm>
            <a:off x="3664440" y="1901880"/>
            <a:ext cx="210960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chemeClr val="dk1"/>
                </a:solidFill>
                <a:effectLst/>
                <a:uFillTx/>
                <a:latin typeface="Calibri"/>
              </a:rPr>
              <a:t>controller · MockMvc</a:t>
            </a:r>
            <a:endParaRPr lang="pt-PT" sz="1500" b="0" u="none" strike="noStrike">
              <a:solidFill>
                <a:srgbClr val="000000"/>
              </a:solidFill>
              <a:effectLst/>
              <a:uFillTx/>
              <a:latin typeface="Arial"/>
            </a:endParaRPr>
          </a:p>
        </p:txBody>
      </p:sp>
      <p:sp>
        <p:nvSpPr>
          <p:cNvPr id="109" name="Stat tile 3"/>
          <p:cNvSpPr/>
          <p:nvPr/>
        </p:nvSpPr>
        <p:spPr>
          <a:xfrm>
            <a:off x="6231600" y="1280160"/>
            <a:ext cx="2566800" cy="1051200"/>
          </a:xfrm>
          <a:prstGeom prst="roundRect">
            <a:avLst>
              <a:gd name="adj" fmla="val 10435"/>
            </a:avLst>
          </a:prstGeom>
          <a:solidFill>
            <a:schemeClr val="bg2"/>
          </a:solidFill>
          <a:ln w="0">
            <a:noFill/>
          </a:ln>
        </p:spPr>
        <p:style>
          <a:lnRef idx="0"/>
          <a:fillRef idx="0"/>
          <a:effectRef idx="0"/>
          <a:fontRef idx="minor"/>
        </p:style>
        <p:txBody>
          <a:bodyPr lIns="90000" tIns="45000" rIns="90000" bIns="45000" anchor="t">
            <a:noAutofit/>
          </a:bodyPr>
          <a:p>
            <a:endParaRPr lang="pt-PT" sz="1800" b="0" u="none" strike="noStrike">
              <a:solidFill>
                <a:srgbClr val="000000"/>
              </a:solidFill>
              <a:effectLst/>
              <a:uFillTx/>
              <a:latin typeface="Arial"/>
            </a:endParaRPr>
          </a:p>
        </p:txBody>
      </p:sp>
      <p:sp>
        <p:nvSpPr>
          <p:cNvPr id="110" name="Stat value 3"/>
          <p:cNvSpPr/>
          <p:nvPr/>
        </p:nvSpPr>
        <p:spPr>
          <a:xfrm>
            <a:off x="6505920" y="1353240"/>
            <a:ext cx="13712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600" b="1" u="none" strike="noStrike">
                <a:solidFill>
                  <a:schemeClr val="dk2"/>
                </a:solidFill>
                <a:effectLst/>
                <a:uFillTx/>
                <a:latin typeface="Calibri"/>
              </a:rPr>
              <a:t>11</a:t>
            </a:r>
            <a:endParaRPr lang="pt-PT" sz="3600" b="0" u="none" strike="noStrike">
              <a:solidFill>
                <a:srgbClr val="000000"/>
              </a:solidFill>
              <a:effectLst/>
              <a:uFillTx/>
              <a:latin typeface="Arial"/>
            </a:endParaRPr>
          </a:p>
        </p:txBody>
      </p:sp>
      <p:sp>
        <p:nvSpPr>
          <p:cNvPr id="111" name="Stat label 3"/>
          <p:cNvSpPr/>
          <p:nvPr/>
        </p:nvSpPr>
        <p:spPr>
          <a:xfrm>
            <a:off x="6505920" y="1901880"/>
            <a:ext cx="210960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chemeClr val="dk1"/>
                </a:solidFill>
                <a:effectLst/>
                <a:uFillTx/>
                <a:latin typeface="Calibri"/>
              </a:rPr>
              <a:t>service · Mockito</a:t>
            </a:r>
            <a:endParaRPr lang="pt-PT" sz="1500" b="0" u="none" strike="noStrike">
              <a:solidFill>
                <a:srgbClr val="000000"/>
              </a:solidFill>
              <a:effectLst/>
              <a:uFillTx/>
              <a:latin typeface="Arial"/>
            </a:endParaRPr>
          </a:p>
        </p:txBody>
      </p:sp>
      <p:sp>
        <p:nvSpPr>
          <p:cNvPr id="112" name="Stat tile 4"/>
          <p:cNvSpPr/>
          <p:nvPr/>
        </p:nvSpPr>
        <p:spPr>
          <a:xfrm>
            <a:off x="9073080" y="1280160"/>
            <a:ext cx="2566800" cy="1051200"/>
          </a:xfrm>
          <a:prstGeom prst="roundRect">
            <a:avLst>
              <a:gd name="adj" fmla="val 10435"/>
            </a:avLst>
          </a:prstGeom>
          <a:solidFill>
            <a:schemeClr val="bg2"/>
          </a:solidFill>
          <a:ln w="0">
            <a:noFill/>
          </a:ln>
        </p:spPr>
        <p:style>
          <a:lnRef idx="0"/>
          <a:fillRef idx="0"/>
          <a:effectRef idx="0"/>
          <a:fontRef idx="minor"/>
        </p:style>
        <p:txBody>
          <a:bodyPr lIns="90000" tIns="45000" rIns="90000" bIns="45000" anchor="t">
            <a:noAutofit/>
          </a:bodyPr>
          <a:p>
            <a:endParaRPr lang="pt-PT" sz="1800" b="0" u="none" strike="noStrike">
              <a:solidFill>
                <a:srgbClr val="000000"/>
              </a:solidFill>
              <a:effectLst/>
              <a:uFillTx/>
              <a:latin typeface="Arial"/>
            </a:endParaRPr>
          </a:p>
        </p:txBody>
      </p:sp>
      <p:sp>
        <p:nvSpPr>
          <p:cNvPr id="113" name="Stat value 4"/>
          <p:cNvSpPr/>
          <p:nvPr/>
        </p:nvSpPr>
        <p:spPr>
          <a:xfrm>
            <a:off x="9347400" y="1353240"/>
            <a:ext cx="13712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600" b="1" u="none" strike="noStrike">
                <a:solidFill>
                  <a:schemeClr val="dk2"/>
                </a:solidFill>
                <a:effectLst/>
                <a:uFillTx/>
                <a:latin typeface="Calibri"/>
              </a:rPr>
              <a:t>6</a:t>
            </a:r>
            <a:endParaRPr lang="pt-PT" sz="3600" b="0" u="none" strike="noStrike">
              <a:solidFill>
                <a:srgbClr val="000000"/>
              </a:solidFill>
              <a:effectLst/>
              <a:uFillTx/>
              <a:latin typeface="Arial"/>
            </a:endParaRPr>
          </a:p>
        </p:txBody>
      </p:sp>
      <p:sp>
        <p:nvSpPr>
          <p:cNvPr id="114" name="Stat label 4"/>
          <p:cNvSpPr/>
          <p:nvPr/>
        </p:nvSpPr>
        <p:spPr>
          <a:xfrm>
            <a:off x="9347400" y="1901880"/>
            <a:ext cx="210960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chemeClr val="dk1"/>
                </a:solidFill>
                <a:effectLst/>
                <a:uFillTx/>
                <a:latin typeface="Calibri"/>
              </a:rPr>
              <a:t>repository · real H2</a:t>
            </a:r>
            <a:endParaRPr lang="pt-PT" sz="1500" b="0" u="none" strike="noStrike">
              <a:solidFill>
                <a:srgbClr val="000000"/>
              </a:solidFill>
              <a:effectLst/>
              <a:uFillTx/>
              <a:latin typeface="Arial"/>
            </a:endParaRPr>
          </a:p>
        </p:txBody>
      </p:sp>
      <p:graphicFrame>
        <p:nvGraphicFramePr>
          <p:cNvPr id="115" name="Implemented tests table"/>
          <p:cNvGraphicFramePr/>
          <p:nvPr/>
        </p:nvGraphicFramePr>
        <p:xfrm>
          <a:off x="548640" y="2606040"/>
          <a:ext cx="6949080" cy="3318840"/>
        </p:xfrm>
        <a:graphic>
          <a:graphicData uri="http://schemas.openxmlformats.org/drawingml/2006/table">
            <a:tbl>
              <a:tblPr/>
              <a:tblGrid>
                <a:gridCol w="4206240"/>
                <a:gridCol w="2743200"/>
              </a:tblGrid>
              <a:tr h="301680">
                <a:tc>
                  <a:txBody>
                    <a:bodyPr lIns="109440" tIns="27360" rIns="109440" bIns="27360" anchor="ctr">
                      <a:noAutofit/>
                    </a:bodyPr>
                    <a:p>
                      <a:pPr defTabSz="914400">
                        <a:lnSpc>
                          <a:spcPct val="100000"/>
                        </a:lnSpc>
                        <a:tabLst>
                          <a:tab pos="0" algn="l"/>
                        </a:tabLst>
                      </a:pPr>
                      <a:r>
                        <a:rPr lang="en-US" sz="1400" b="1" u="none" strike="noStrike">
                          <a:solidFill>
                            <a:schemeClr val="lt1"/>
                          </a:solidFill>
                          <a:effectLst/>
                          <a:uFillTx/>
                          <a:latin typeface="Calibri"/>
                        </a:rPr>
                        <a:t>Implemented — case</a:t>
                      </a:r>
                      <a:endParaRPr lang="pt-PT" sz="1400" b="0" u="none" strike="noStrike">
                        <a:solidFill>
                          <a:srgbClr val="FFFFFF"/>
                        </a:solidFill>
                        <a:effectLst/>
                        <a:uFillTx/>
                        <a:latin typeface="Arial"/>
                      </a:endParaRPr>
                    </a:p>
                  </a:txBody>
                  <a:tcPr anchor="ctr" marL="109440" marR="109440" marT="27360" marB="27360">
                    <a:lnL w="9360">
                      <a:solidFill>
                        <a:srgbClr val="D5DCE4"/>
                      </a:solidFill>
                      <a:prstDash val="solid"/>
                    </a:lnL>
                    <a:lnR w="9360">
                      <a:solidFill>
                        <a:srgbClr val="D5DCE4"/>
                      </a:solidFill>
                      <a:prstDash val="solid"/>
                    </a:lnR>
                    <a:lnT w="9360">
                      <a:solidFill>
                        <a:srgbClr val="D5DCE4"/>
                      </a:solidFill>
                      <a:prstDash val="solid"/>
                    </a:lnT>
                    <a:lnB w="9360">
                      <a:solidFill>
                        <a:srgbClr val="D5DCE4"/>
                      </a:solidFill>
                      <a:prstDash val="solid"/>
                    </a:lnB>
                    <a:solidFill>
                      <a:schemeClr val="dk2"/>
                    </a:solidFill>
                  </a:tcPr>
                </a:tc>
                <a:tc>
                  <a:txBody>
                    <a:bodyPr lIns="109440" tIns="27360" rIns="109440" bIns="27360" anchor="ctr">
                      <a:noAutofit/>
                    </a:bodyPr>
                    <a:p>
                      <a:pPr defTabSz="914400">
                        <a:lnSpc>
                          <a:spcPct val="100000"/>
                        </a:lnSpc>
                        <a:tabLst>
                          <a:tab pos="0" algn="l"/>
                        </a:tabLst>
                      </a:pPr>
                      <a:r>
                        <a:rPr lang="en-US" sz="1400" b="1" u="none" strike="noStrike">
                          <a:solidFill>
                            <a:schemeClr val="lt1"/>
                          </a:solidFill>
                          <a:effectLst/>
                          <a:uFillTx/>
                          <a:latin typeface="Calibri"/>
                        </a:rPr>
                        <a:t>Expected</a:t>
                      </a:r>
                      <a:endParaRPr lang="pt-PT" sz="1400" b="0" u="none" strike="noStrike">
                        <a:solidFill>
                          <a:srgbClr val="FFFFFF"/>
                        </a:solidFill>
                        <a:effectLst/>
                        <a:uFillTx/>
                        <a:latin typeface="Arial"/>
                      </a:endParaRPr>
                    </a:p>
                  </a:txBody>
                  <a:tcPr anchor="ctr" marL="109440" marR="109440" marT="27360" marB="27360">
                    <a:lnL w="9360">
                      <a:solidFill>
                        <a:srgbClr val="D5DCE4"/>
                      </a:solidFill>
                      <a:prstDash val="solid"/>
                    </a:lnL>
                    <a:lnR w="9360">
                      <a:solidFill>
                        <a:srgbClr val="D5DCE4"/>
                      </a:solidFill>
                      <a:prstDash val="solid"/>
                    </a:lnR>
                    <a:lnT w="9360">
                      <a:solidFill>
                        <a:srgbClr val="D5DCE4"/>
                      </a:solidFill>
                      <a:prstDash val="solid"/>
                    </a:lnT>
                    <a:lnB w="9360">
                      <a:solidFill>
                        <a:srgbClr val="D5DCE4"/>
                      </a:solidFill>
                      <a:prstDash val="solid"/>
                    </a:lnB>
                    <a:solidFill>
                      <a:schemeClr val="dk2"/>
                    </a:solidFill>
                  </a:tcPr>
                </a:tc>
              </a:tr>
              <a:tr h="301680">
                <a:tc>
                  <a:txBody>
                    <a:bodyPr lIns="109440" tIns="27360" rIns="109440" bIns="27360" anchor="ctr">
                      <a:noAutofit/>
                    </a:bodyPr>
                    <a:p>
                      <a:pPr defTabSz="914400">
                        <a:lnSpc>
                          <a:spcPct val="100000"/>
                        </a:lnSpc>
                        <a:tabLst>
                          <a:tab pos="0" algn="l"/>
                        </a:tabLst>
                      </a:pPr>
                      <a:r>
                        <a:rPr lang="en-US" sz="1400" b="0" u="none" strike="noStrike">
                          <a:solidFill>
                            <a:schemeClr val="dk1"/>
                          </a:solidFill>
                          <a:effectLst/>
                          <a:uFillTx/>
                          <a:latin typeface="Calibri"/>
                        </a:rPr>
                        <a:t>Normal calculation (230.50 − 200)</a:t>
                      </a:r>
                      <a:endParaRPr lang="pt-PT" sz="1400" b="0" u="none" strike="noStrike">
                        <a:solidFill>
                          <a:srgbClr val="000000"/>
                        </a:solidFill>
                        <a:effectLst/>
                        <a:uFillTx/>
                        <a:latin typeface="Arial"/>
                      </a:endParaRPr>
                    </a:p>
                  </a:txBody>
                  <a:tcPr anchor="ctr" marL="109440" marR="109440" marT="27360" marB="27360">
                    <a:lnL w="9360">
                      <a:solidFill>
                        <a:srgbClr val="D5DCE4"/>
                      </a:solidFill>
                      <a:prstDash val="solid"/>
                    </a:lnL>
                    <a:lnR w="9360">
                      <a:solidFill>
                        <a:srgbClr val="D5DCE4"/>
                      </a:solidFill>
                      <a:prstDash val="solid"/>
                    </a:lnR>
                    <a:lnT w="9360">
                      <a:solidFill>
                        <a:srgbClr val="D5DCE4"/>
                      </a:solidFill>
                      <a:prstDash val="solid"/>
                    </a:lnT>
                    <a:lnB w="9360">
                      <a:solidFill>
                        <a:srgbClr val="D5DCE4"/>
                      </a:solidFill>
                      <a:prstDash val="solid"/>
                    </a:lnB>
                    <a:solidFill>
                      <a:schemeClr val="lt1"/>
                    </a:solidFill>
                  </a:tcPr>
                </a:tc>
                <a:tc>
                  <a:txBody>
                    <a:bodyPr lIns="109440" tIns="27360" rIns="109440" bIns="27360" anchor="ctr">
                      <a:noAutofit/>
                    </a:bodyPr>
                    <a:p>
                      <a:pPr defTabSz="914400">
                        <a:lnSpc>
                          <a:spcPct val="100000"/>
                        </a:lnSpc>
                        <a:tabLst>
                          <a:tab pos="0" algn="l"/>
                        </a:tabLst>
                      </a:pPr>
                      <a:r>
                        <a:rPr lang="en-US" sz="1400" b="0" u="none" strike="noStrike">
                          <a:solidFill>
                            <a:schemeClr val="dk1"/>
                          </a:solidFill>
                          <a:effectLst/>
                          <a:uFillTx/>
                          <a:latin typeface="Calibri"/>
                        </a:rPr>
                        <a:t>201 · profit 30.50</a:t>
                      </a:r>
                      <a:endParaRPr lang="pt-PT" sz="1400" b="0" u="none" strike="noStrike">
                        <a:solidFill>
                          <a:srgbClr val="000000"/>
                        </a:solidFill>
                        <a:effectLst/>
                        <a:uFillTx/>
                        <a:latin typeface="Arial"/>
                      </a:endParaRPr>
                    </a:p>
                  </a:txBody>
                  <a:tcPr anchor="ctr" marL="109440" marR="109440" marT="27360" marB="27360">
                    <a:lnL w="9360">
                      <a:solidFill>
                        <a:srgbClr val="D5DCE4"/>
                      </a:solidFill>
                      <a:prstDash val="solid"/>
                    </a:lnL>
                    <a:lnR w="9360">
                      <a:solidFill>
                        <a:srgbClr val="D5DCE4"/>
                      </a:solidFill>
                      <a:prstDash val="solid"/>
                    </a:lnR>
                    <a:lnT w="9360">
                      <a:solidFill>
                        <a:srgbClr val="D5DCE4"/>
                      </a:solidFill>
                      <a:prstDash val="solid"/>
                    </a:lnT>
                    <a:lnB w="9360">
                      <a:solidFill>
                        <a:srgbClr val="D5DCE4"/>
                      </a:solidFill>
                      <a:prstDash val="solid"/>
                    </a:lnB>
                    <a:solidFill>
                      <a:schemeClr val="lt1"/>
                    </a:solidFill>
                  </a:tcPr>
                </a:tc>
              </a:tr>
              <a:tr h="301680">
                <a:tc>
                  <a:txBody>
                    <a:bodyPr lIns="109440" tIns="27360" rIns="109440" bIns="27360" anchor="ctr">
                      <a:noAutofit/>
                    </a:bodyPr>
                    <a:p>
                      <a:pPr defTabSz="914400">
                        <a:lnSpc>
                          <a:spcPct val="100000"/>
                        </a:lnSpc>
                        <a:tabLst>
                          <a:tab pos="0" algn="l"/>
                        </a:tabLst>
                      </a:pPr>
                      <a:r>
                        <a:rPr lang="en-US" sz="1400" b="0" u="none" strike="noStrike">
                          <a:solidFill>
                            <a:schemeClr val="dk1"/>
                          </a:solidFill>
                          <a:effectLst/>
                          <a:uFillTx/>
                          <a:latin typeface="Calibri"/>
                        </a:rPr>
                        <a:t>Cost + additional cost summed</a:t>
                      </a:r>
                      <a:endParaRPr lang="pt-PT" sz="1400" b="0" u="none" strike="noStrike">
                        <a:solidFill>
                          <a:srgbClr val="000000"/>
                        </a:solidFill>
                        <a:effectLst/>
                        <a:uFillTx/>
                        <a:latin typeface="Arial"/>
                      </a:endParaRPr>
                    </a:p>
                  </a:txBody>
                  <a:tcPr anchor="ctr" marL="109440" marR="109440" marT="27360" marB="27360">
                    <a:lnL w="9360">
                      <a:solidFill>
                        <a:srgbClr val="D5DCE4"/>
                      </a:solidFill>
                      <a:prstDash val="solid"/>
                    </a:lnL>
                    <a:lnR w="9360">
                      <a:solidFill>
                        <a:srgbClr val="D5DCE4"/>
                      </a:solidFill>
                      <a:prstDash val="solid"/>
                    </a:lnR>
                    <a:lnT w="9360">
                      <a:solidFill>
                        <a:srgbClr val="D5DCE4"/>
                      </a:solidFill>
                      <a:prstDash val="solid"/>
                    </a:lnT>
                    <a:lnB w="9360">
                      <a:solidFill>
                        <a:srgbClr val="D5DCE4"/>
                      </a:solidFill>
                      <a:prstDash val="solid"/>
                    </a:lnB>
                    <a:solidFill>
                      <a:schemeClr val="lt2"/>
                    </a:solidFill>
                  </a:tcPr>
                </a:tc>
                <a:tc>
                  <a:txBody>
                    <a:bodyPr lIns="109440" tIns="27360" rIns="109440" bIns="27360" anchor="ctr">
                      <a:noAutofit/>
                    </a:bodyPr>
                    <a:p>
                      <a:pPr defTabSz="914400">
                        <a:lnSpc>
                          <a:spcPct val="100000"/>
                        </a:lnSpc>
                        <a:tabLst>
                          <a:tab pos="0" algn="l"/>
                        </a:tabLst>
                      </a:pPr>
                      <a:r>
                        <a:rPr lang="en-US" sz="1400" b="0" u="none" strike="noStrike">
                          <a:solidFill>
                            <a:schemeClr val="dk1"/>
                          </a:solidFill>
                          <a:effectLst/>
                          <a:uFillTx/>
                          <a:latin typeface="Calibri"/>
                        </a:rPr>
                        <a:t>profit 800</a:t>
                      </a:r>
                      <a:endParaRPr lang="pt-PT" sz="1400" b="0" u="none" strike="noStrike">
                        <a:solidFill>
                          <a:srgbClr val="000000"/>
                        </a:solidFill>
                        <a:effectLst/>
                        <a:uFillTx/>
                        <a:latin typeface="Arial"/>
                      </a:endParaRPr>
                    </a:p>
                  </a:txBody>
                  <a:tcPr anchor="ctr" marL="109440" marR="109440" marT="27360" marB="27360">
                    <a:lnL w="9360">
                      <a:solidFill>
                        <a:srgbClr val="D5DCE4"/>
                      </a:solidFill>
                      <a:prstDash val="solid"/>
                    </a:lnL>
                    <a:lnR w="9360">
                      <a:solidFill>
                        <a:srgbClr val="D5DCE4"/>
                      </a:solidFill>
                      <a:prstDash val="solid"/>
                    </a:lnR>
                    <a:lnT w="9360">
                      <a:solidFill>
                        <a:srgbClr val="D5DCE4"/>
                      </a:solidFill>
                      <a:prstDash val="solid"/>
                    </a:lnT>
                    <a:lnB w="9360">
                      <a:solidFill>
                        <a:srgbClr val="D5DCE4"/>
                      </a:solidFill>
                      <a:prstDash val="solid"/>
                    </a:lnB>
                    <a:solidFill>
                      <a:schemeClr val="lt2"/>
                    </a:solidFill>
                  </a:tcPr>
                </a:tc>
              </a:tr>
              <a:tr h="301680">
                <a:tc>
                  <a:txBody>
                    <a:bodyPr lIns="109440" tIns="27360" rIns="109440" bIns="27360" anchor="ctr">
                      <a:noAutofit/>
                    </a:bodyPr>
                    <a:p>
                      <a:pPr defTabSz="914400">
                        <a:lnSpc>
                          <a:spcPct val="100000"/>
                        </a:lnSpc>
                        <a:tabLst>
                          <a:tab pos="0" algn="l"/>
                        </a:tabLst>
                      </a:pPr>
                      <a:r>
                        <a:rPr lang="en-US" sz="1400" b="0" u="none" strike="noStrike">
                          <a:solidFill>
                            <a:schemeClr val="dk1"/>
                          </a:solidFill>
                          <a:effectLst/>
                          <a:uFillTx/>
                          <a:latin typeface="Calibri"/>
                        </a:rPr>
                        <a:t>Costs exceed income</a:t>
                      </a:r>
                      <a:endParaRPr lang="pt-PT" sz="1400" b="0" u="none" strike="noStrike">
                        <a:solidFill>
                          <a:srgbClr val="000000"/>
                        </a:solidFill>
                        <a:effectLst/>
                        <a:uFillTx/>
                        <a:latin typeface="Arial"/>
                      </a:endParaRPr>
                    </a:p>
                  </a:txBody>
                  <a:tcPr anchor="ctr" marL="109440" marR="109440" marT="27360" marB="27360">
                    <a:lnL w="9360">
                      <a:solidFill>
                        <a:srgbClr val="D5DCE4"/>
                      </a:solidFill>
                      <a:prstDash val="solid"/>
                    </a:lnL>
                    <a:lnR w="9360">
                      <a:solidFill>
                        <a:srgbClr val="D5DCE4"/>
                      </a:solidFill>
                      <a:prstDash val="solid"/>
                    </a:lnR>
                    <a:lnT w="9360">
                      <a:solidFill>
                        <a:srgbClr val="D5DCE4"/>
                      </a:solidFill>
                      <a:prstDash val="solid"/>
                    </a:lnT>
                    <a:lnB w="9360">
                      <a:solidFill>
                        <a:srgbClr val="D5DCE4"/>
                      </a:solidFill>
                      <a:prstDash val="solid"/>
                    </a:lnB>
                    <a:solidFill>
                      <a:schemeClr val="lt1"/>
                    </a:solidFill>
                  </a:tcPr>
                </a:tc>
                <a:tc>
                  <a:txBody>
                    <a:bodyPr lIns="109440" tIns="27360" rIns="109440" bIns="27360" anchor="ctr">
                      <a:noAutofit/>
                    </a:bodyPr>
                    <a:p>
                      <a:pPr defTabSz="914400">
                        <a:lnSpc>
                          <a:spcPct val="100000"/>
                        </a:lnSpc>
                        <a:tabLst>
                          <a:tab pos="0" algn="l"/>
                        </a:tabLst>
                      </a:pPr>
                      <a:r>
                        <a:rPr lang="en-US" sz="1400" b="0" u="none" strike="noStrike">
                          <a:solidFill>
                            <a:schemeClr val="dk1"/>
                          </a:solidFill>
                          <a:effectLst/>
                          <a:uFillTx/>
                          <a:latin typeface="Calibri"/>
                        </a:rPr>
                        <a:t>−400 (loss)</a:t>
                      </a:r>
                      <a:endParaRPr lang="pt-PT" sz="1400" b="0" u="none" strike="noStrike">
                        <a:solidFill>
                          <a:srgbClr val="000000"/>
                        </a:solidFill>
                        <a:effectLst/>
                        <a:uFillTx/>
                        <a:latin typeface="Arial"/>
                      </a:endParaRPr>
                    </a:p>
                  </a:txBody>
                  <a:tcPr anchor="ctr" marL="109440" marR="109440" marT="27360" marB="27360">
                    <a:lnL w="9360">
                      <a:solidFill>
                        <a:srgbClr val="D5DCE4"/>
                      </a:solidFill>
                      <a:prstDash val="solid"/>
                    </a:lnL>
                    <a:lnR w="9360">
                      <a:solidFill>
                        <a:srgbClr val="D5DCE4"/>
                      </a:solidFill>
                      <a:prstDash val="solid"/>
                    </a:lnR>
                    <a:lnT w="9360">
                      <a:solidFill>
                        <a:srgbClr val="D5DCE4"/>
                      </a:solidFill>
                      <a:prstDash val="solid"/>
                    </a:lnT>
                    <a:lnB w="9360">
                      <a:solidFill>
                        <a:srgbClr val="D5DCE4"/>
                      </a:solidFill>
                      <a:prstDash val="solid"/>
                    </a:lnB>
                    <a:solidFill>
                      <a:schemeClr val="lt1"/>
                    </a:solidFill>
                  </a:tcPr>
                </a:tc>
              </a:tr>
              <a:tr h="301680">
                <a:tc>
                  <a:txBody>
                    <a:bodyPr lIns="109440" tIns="27360" rIns="109440" bIns="27360" anchor="ctr">
                      <a:noAutofit/>
                    </a:bodyPr>
                    <a:p>
                      <a:pPr defTabSz="914400">
                        <a:lnSpc>
                          <a:spcPct val="100000"/>
                        </a:lnSpc>
                        <a:tabLst>
                          <a:tab pos="0" algn="l"/>
                        </a:tabLst>
                      </a:pPr>
                      <a:r>
                        <a:rPr lang="en-US" sz="1400" b="0" u="none" strike="noStrike">
                          <a:solidFill>
                            <a:schemeClr val="dk1"/>
                          </a:solidFill>
                          <a:effectLst/>
                          <a:uFillTx/>
                          <a:latin typeface="Calibri"/>
                        </a:rPr>
                        <a:t>Empty or zero additional cost</a:t>
                      </a:r>
                      <a:endParaRPr lang="pt-PT" sz="1400" b="0" u="none" strike="noStrike">
                        <a:solidFill>
                          <a:srgbClr val="000000"/>
                        </a:solidFill>
                        <a:effectLst/>
                        <a:uFillTx/>
                        <a:latin typeface="Arial"/>
                      </a:endParaRPr>
                    </a:p>
                  </a:txBody>
                  <a:tcPr anchor="ctr" marL="109440" marR="109440" marT="27360" marB="27360">
                    <a:lnL w="9360">
                      <a:solidFill>
                        <a:srgbClr val="D5DCE4"/>
                      </a:solidFill>
                      <a:prstDash val="solid"/>
                    </a:lnL>
                    <a:lnR w="9360">
                      <a:solidFill>
                        <a:srgbClr val="D5DCE4"/>
                      </a:solidFill>
                      <a:prstDash val="solid"/>
                    </a:lnR>
                    <a:lnT w="9360">
                      <a:solidFill>
                        <a:srgbClr val="D5DCE4"/>
                      </a:solidFill>
                      <a:prstDash val="solid"/>
                    </a:lnT>
                    <a:lnB w="9360">
                      <a:solidFill>
                        <a:srgbClr val="D5DCE4"/>
                      </a:solidFill>
                      <a:prstDash val="solid"/>
                    </a:lnB>
                    <a:solidFill>
                      <a:schemeClr val="lt2"/>
                    </a:solidFill>
                  </a:tcPr>
                </a:tc>
                <a:tc>
                  <a:txBody>
                    <a:bodyPr lIns="109440" tIns="27360" rIns="109440" bIns="27360" anchor="ctr">
                      <a:noAutofit/>
                    </a:bodyPr>
                    <a:p>
                      <a:pPr defTabSz="914400">
                        <a:lnSpc>
                          <a:spcPct val="100000"/>
                        </a:lnSpc>
                        <a:tabLst>
                          <a:tab pos="0" algn="l"/>
                        </a:tabLst>
                      </a:pPr>
                      <a:r>
                        <a:rPr lang="en-US" sz="1400" b="0" u="none" strike="noStrike">
                          <a:solidFill>
                            <a:schemeClr val="dk1"/>
                          </a:solidFill>
                          <a:effectLst/>
                          <a:uFillTx/>
                          <a:latin typeface="Calibri"/>
                        </a:rPr>
                        <a:t>not stored</a:t>
                      </a:r>
                      <a:endParaRPr lang="pt-PT" sz="1400" b="0" u="none" strike="noStrike">
                        <a:solidFill>
                          <a:srgbClr val="000000"/>
                        </a:solidFill>
                        <a:effectLst/>
                        <a:uFillTx/>
                        <a:latin typeface="Arial"/>
                      </a:endParaRPr>
                    </a:p>
                  </a:txBody>
                  <a:tcPr anchor="ctr" marL="109440" marR="109440" marT="27360" marB="27360">
                    <a:lnL w="9360">
                      <a:solidFill>
                        <a:srgbClr val="D5DCE4"/>
                      </a:solidFill>
                      <a:prstDash val="solid"/>
                    </a:lnL>
                    <a:lnR w="9360">
                      <a:solidFill>
                        <a:srgbClr val="D5DCE4"/>
                      </a:solidFill>
                      <a:prstDash val="solid"/>
                    </a:lnR>
                    <a:lnT w="9360">
                      <a:solidFill>
                        <a:srgbClr val="D5DCE4"/>
                      </a:solidFill>
                      <a:prstDash val="solid"/>
                    </a:lnT>
                    <a:lnB w="9360">
                      <a:solidFill>
                        <a:srgbClr val="D5DCE4"/>
                      </a:solidFill>
                      <a:prstDash val="solid"/>
                    </a:lnB>
                    <a:solidFill>
                      <a:schemeClr val="lt2"/>
                    </a:solidFill>
                  </a:tcPr>
                </a:tc>
              </a:tr>
              <a:tr h="301680">
                <a:tc>
                  <a:txBody>
                    <a:bodyPr lIns="109440" tIns="27360" rIns="109440" bIns="27360" anchor="ctr">
                      <a:noAutofit/>
                    </a:bodyPr>
                    <a:p>
                      <a:pPr defTabSz="914400">
                        <a:lnSpc>
                          <a:spcPct val="100000"/>
                        </a:lnSpc>
                        <a:tabLst>
                          <a:tab pos="0" algn="l"/>
                        </a:tabLst>
                      </a:pPr>
                      <a:r>
                        <a:rPr lang="en-US" sz="1400" b="0" u="none" strike="noStrike">
                          <a:solidFill>
                            <a:schemeClr val="dk1"/>
                          </a:solidFill>
                          <a:effectLst/>
                          <a:uFillTx/>
                          <a:latin typeface="Calibri"/>
                        </a:rPr>
                        <a:t>Missing income</a:t>
                      </a:r>
                      <a:endParaRPr lang="pt-PT" sz="1400" b="0" u="none" strike="noStrike">
                        <a:solidFill>
                          <a:srgbClr val="000000"/>
                        </a:solidFill>
                        <a:effectLst/>
                        <a:uFillTx/>
                        <a:latin typeface="Arial"/>
                      </a:endParaRPr>
                    </a:p>
                  </a:txBody>
                  <a:tcPr anchor="ctr" marL="109440" marR="109440" marT="27360" marB="27360">
                    <a:lnL w="9360">
                      <a:solidFill>
                        <a:srgbClr val="D5DCE4"/>
                      </a:solidFill>
                      <a:prstDash val="solid"/>
                    </a:lnL>
                    <a:lnR w="9360">
                      <a:solidFill>
                        <a:srgbClr val="D5DCE4"/>
                      </a:solidFill>
                      <a:prstDash val="solid"/>
                    </a:lnR>
                    <a:lnT w="9360">
                      <a:solidFill>
                        <a:srgbClr val="D5DCE4"/>
                      </a:solidFill>
                      <a:prstDash val="solid"/>
                    </a:lnT>
                    <a:lnB w="9360">
                      <a:solidFill>
                        <a:srgbClr val="D5DCE4"/>
                      </a:solidFill>
                      <a:prstDash val="solid"/>
                    </a:lnB>
                    <a:solidFill>
                      <a:schemeClr val="lt1"/>
                    </a:solidFill>
                  </a:tcPr>
                </a:tc>
                <a:tc>
                  <a:txBody>
                    <a:bodyPr lIns="109440" tIns="27360" rIns="109440" bIns="27360" anchor="ctr">
                      <a:noAutofit/>
                    </a:bodyPr>
                    <a:p>
                      <a:pPr defTabSz="914400">
                        <a:lnSpc>
                          <a:spcPct val="100000"/>
                        </a:lnSpc>
                        <a:tabLst>
                          <a:tab pos="0" algn="l"/>
                        </a:tabLst>
                      </a:pPr>
                      <a:r>
                        <a:rPr lang="en-US" sz="1400" b="0" u="none" strike="noStrike">
                          <a:solidFill>
                            <a:schemeClr val="dk1"/>
                          </a:solidFill>
                          <a:effectLst/>
                          <a:uFillTx/>
                          <a:latin typeface="Calibri"/>
                        </a:rPr>
                        <a:t>400 · "income: …"</a:t>
                      </a:r>
                      <a:endParaRPr lang="pt-PT" sz="1400" b="0" u="none" strike="noStrike">
                        <a:solidFill>
                          <a:srgbClr val="000000"/>
                        </a:solidFill>
                        <a:effectLst/>
                        <a:uFillTx/>
                        <a:latin typeface="Arial"/>
                      </a:endParaRPr>
                    </a:p>
                  </a:txBody>
                  <a:tcPr anchor="ctr" marL="109440" marR="109440" marT="27360" marB="27360">
                    <a:lnL w="9360">
                      <a:solidFill>
                        <a:srgbClr val="D5DCE4"/>
                      </a:solidFill>
                      <a:prstDash val="solid"/>
                    </a:lnL>
                    <a:lnR w="9360">
                      <a:solidFill>
                        <a:srgbClr val="D5DCE4"/>
                      </a:solidFill>
                      <a:prstDash val="solid"/>
                    </a:lnR>
                    <a:lnT w="9360">
                      <a:solidFill>
                        <a:srgbClr val="D5DCE4"/>
                      </a:solidFill>
                      <a:prstDash val="solid"/>
                    </a:lnT>
                    <a:lnB w="9360">
                      <a:solidFill>
                        <a:srgbClr val="D5DCE4"/>
                      </a:solidFill>
                      <a:prstDash val="solid"/>
                    </a:lnB>
                    <a:solidFill>
                      <a:schemeClr val="lt1"/>
                    </a:solidFill>
                  </a:tcPr>
                </a:tc>
              </a:tr>
              <a:tr h="301680">
                <a:tc>
                  <a:txBody>
                    <a:bodyPr lIns="109440" tIns="27360" rIns="109440" bIns="27360" anchor="ctr">
                      <a:noAutofit/>
                    </a:bodyPr>
                    <a:p>
                      <a:pPr defTabSz="914400">
                        <a:lnSpc>
                          <a:spcPct val="100000"/>
                        </a:lnSpc>
                        <a:tabLst>
                          <a:tab pos="0" algn="l"/>
                        </a:tabLst>
                      </a:pPr>
                      <a:r>
                        <a:rPr lang="en-US" sz="1400" b="0" u="none" strike="noStrike">
                          <a:solidFill>
                            <a:schemeClr val="dk1"/>
                          </a:solidFill>
                          <a:effectLst/>
                          <a:uFillTx/>
                          <a:latin typeface="Calibri"/>
                        </a:rPr>
                        <a:t>Negative amount · malformed JSON</a:t>
                      </a:r>
                      <a:endParaRPr lang="pt-PT" sz="1400" b="0" u="none" strike="noStrike">
                        <a:solidFill>
                          <a:srgbClr val="000000"/>
                        </a:solidFill>
                        <a:effectLst/>
                        <a:uFillTx/>
                        <a:latin typeface="Arial"/>
                      </a:endParaRPr>
                    </a:p>
                  </a:txBody>
                  <a:tcPr anchor="ctr" marL="109440" marR="109440" marT="27360" marB="27360">
                    <a:lnL w="9360">
                      <a:solidFill>
                        <a:srgbClr val="D5DCE4"/>
                      </a:solidFill>
                      <a:prstDash val="solid"/>
                    </a:lnL>
                    <a:lnR w="9360">
                      <a:solidFill>
                        <a:srgbClr val="D5DCE4"/>
                      </a:solidFill>
                      <a:prstDash val="solid"/>
                    </a:lnR>
                    <a:lnT w="9360">
                      <a:solidFill>
                        <a:srgbClr val="D5DCE4"/>
                      </a:solidFill>
                      <a:prstDash val="solid"/>
                    </a:lnT>
                    <a:lnB w="9360">
                      <a:solidFill>
                        <a:srgbClr val="D5DCE4"/>
                      </a:solidFill>
                      <a:prstDash val="solid"/>
                    </a:lnB>
                    <a:solidFill>
                      <a:schemeClr val="lt2"/>
                    </a:solidFill>
                  </a:tcPr>
                </a:tc>
                <a:tc>
                  <a:txBody>
                    <a:bodyPr lIns="109440" tIns="27360" rIns="109440" bIns="27360" anchor="ctr">
                      <a:noAutofit/>
                    </a:bodyPr>
                    <a:p>
                      <a:pPr defTabSz="914400">
                        <a:lnSpc>
                          <a:spcPct val="100000"/>
                        </a:lnSpc>
                        <a:tabLst>
                          <a:tab pos="0" algn="l"/>
                        </a:tabLst>
                      </a:pPr>
                      <a:r>
                        <a:rPr lang="en-US" sz="1400" b="0" u="none" strike="noStrike">
                          <a:solidFill>
                            <a:schemeClr val="dk1"/>
                          </a:solidFill>
                          <a:effectLst/>
                          <a:uFillTx/>
                          <a:latin typeface="Calibri"/>
                        </a:rPr>
                        <a:t>400 Bad Request</a:t>
                      </a:r>
                      <a:endParaRPr lang="pt-PT" sz="1400" b="0" u="none" strike="noStrike">
                        <a:solidFill>
                          <a:srgbClr val="000000"/>
                        </a:solidFill>
                        <a:effectLst/>
                        <a:uFillTx/>
                        <a:latin typeface="Arial"/>
                      </a:endParaRPr>
                    </a:p>
                  </a:txBody>
                  <a:tcPr anchor="ctr" marL="109440" marR="109440" marT="27360" marB="27360">
                    <a:lnL w="9360">
                      <a:solidFill>
                        <a:srgbClr val="D5DCE4"/>
                      </a:solidFill>
                      <a:prstDash val="solid"/>
                    </a:lnL>
                    <a:lnR w="9360">
                      <a:solidFill>
                        <a:srgbClr val="D5DCE4"/>
                      </a:solidFill>
                      <a:prstDash val="solid"/>
                    </a:lnR>
                    <a:lnT w="9360">
                      <a:solidFill>
                        <a:srgbClr val="D5DCE4"/>
                      </a:solidFill>
                      <a:prstDash val="solid"/>
                    </a:lnT>
                    <a:lnB w="9360">
                      <a:solidFill>
                        <a:srgbClr val="D5DCE4"/>
                      </a:solidFill>
                      <a:prstDash val="solid"/>
                    </a:lnB>
                    <a:solidFill>
                      <a:schemeClr val="lt2"/>
                    </a:solidFill>
                  </a:tcPr>
                </a:tc>
              </a:tr>
              <a:tr h="301680">
                <a:tc>
                  <a:txBody>
                    <a:bodyPr lIns="109440" tIns="27360" rIns="109440" bIns="27360" anchor="ctr">
                      <a:noAutofit/>
                    </a:bodyPr>
                    <a:p>
                      <a:pPr defTabSz="914400">
                        <a:lnSpc>
                          <a:spcPct val="100000"/>
                        </a:lnSpc>
                        <a:tabLst>
                          <a:tab pos="0" algn="l"/>
                        </a:tabLst>
                      </a:pPr>
                      <a:r>
                        <a:rPr lang="en-US" sz="1400" b="0" u="none" strike="noStrike">
                          <a:solidFill>
                            <a:schemeClr val="dk1"/>
                          </a:solidFill>
                          <a:effectLst/>
                          <a:uFillTx/>
                          <a:latin typeface="Calibri"/>
                        </a:rPr>
                        <a:t>Unknown shipment</a:t>
                      </a:r>
                      <a:endParaRPr lang="pt-PT" sz="1400" b="0" u="none" strike="noStrike">
                        <a:solidFill>
                          <a:srgbClr val="000000"/>
                        </a:solidFill>
                        <a:effectLst/>
                        <a:uFillTx/>
                        <a:latin typeface="Arial"/>
                      </a:endParaRPr>
                    </a:p>
                  </a:txBody>
                  <a:tcPr anchor="ctr" marL="109440" marR="109440" marT="27360" marB="27360">
                    <a:lnL w="9360">
                      <a:solidFill>
                        <a:srgbClr val="D5DCE4"/>
                      </a:solidFill>
                      <a:prstDash val="solid"/>
                    </a:lnL>
                    <a:lnR w="9360">
                      <a:solidFill>
                        <a:srgbClr val="D5DCE4"/>
                      </a:solidFill>
                      <a:prstDash val="solid"/>
                    </a:lnR>
                    <a:lnT w="9360">
                      <a:solidFill>
                        <a:srgbClr val="D5DCE4"/>
                      </a:solidFill>
                      <a:prstDash val="solid"/>
                    </a:lnT>
                    <a:lnB w="9360">
                      <a:solidFill>
                        <a:srgbClr val="D5DCE4"/>
                      </a:solidFill>
                      <a:prstDash val="solid"/>
                    </a:lnB>
                    <a:solidFill>
                      <a:schemeClr val="lt1"/>
                    </a:solidFill>
                  </a:tcPr>
                </a:tc>
                <a:tc>
                  <a:txBody>
                    <a:bodyPr lIns="109440" tIns="27360" rIns="109440" bIns="27360" anchor="ctr">
                      <a:noAutofit/>
                    </a:bodyPr>
                    <a:p>
                      <a:pPr defTabSz="914400">
                        <a:lnSpc>
                          <a:spcPct val="100000"/>
                        </a:lnSpc>
                        <a:tabLst>
                          <a:tab pos="0" algn="l"/>
                        </a:tabLst>
                      </a:pPr>
                      <a:r>
                        <a:rPr lang="en-US" sz="1400" b="0" u="none" strike="noStrike">
                          <a:solidFill>
                            <a:schemeClr val="dk1"/>
                          </a:solidFill>
                          <a:effectLst/>
                          <a:uFillTx/>
                          <a:latin typeface="Calibri"/>
                        </a:rPr>
                        <a:t>404 ProblemDetail</a:t>
                      </a:r>
                      <a:endParaRPr lang="pt-PT" sz="1400" b="0" u="none" strike="noStrike">
                        <a:solidFill>
                          <a:srgbClr val="000000"/>
                        </a:solidFill>
                        <a:effectLst/>
                        <a:uFillTx/>
                        <a:latin typeface="Arial"/>
                      </a:endParaRPr>
                    </a:p>
                  </a:txBody>
                  <a:tcPr anchor="ctr" marL="109440" marR="109440" marT="27360" marB="27360">
                    <a:lnL w="9360">
                      <a:solidFill>
                        <a:srgbClr val="D5DCE4"/>
                      </a:solidFill>
                      <a:prstDash val="solid"/>
                    </a:lnL>
                    <a:lnR w="9360">
                      <a:solidFill>
                        <a:srgbClr val="D5DCE4"/>
                      </a:solidFill>
                      <a:prstDash val="solid"/>
                    </a:lnR>
                    <a:lnT w="9360">
                      <a:solidFill>
                        <a:srgbClr val="D5DCE4"/>
                      </a:solidFill>
                      <a:prstDash val="solid"/>
                    </a:lnT>
                    <a:lnB w="9360">
                      <a:solidFill>
                        <a:srgbClr val="D5DCE4"/>
                      </a:solidFill>
                      <a:prstDash val="solid"/>
                    </a:lnB>
                    <a:solidFill>
                      <a:schemeClr val="lt1"/>
                    </a:solidFill>
                  </a:tcPr>
                </a:tc>
              </a:tr>
              <a:tr h="301680">
                <a:tc>
                  <a:txBody>
                    <a:bodyPr lIns="109440" tIns="27360" rIns="109440" bIns="27360" anchor="ctr">
                      <a:noAutofit/>
                    </a:bodyPr>
                    <a:p>
                      <a:pPr defTabSz="914400">
                        <a:lnSpc>
                          <a:spcPct val="100000"/>
                        </a:lnSpc>
                        <a:tabLst>
                          <a:tab pos="0" algn="l"/>
                        </a:tabLst>
                      </a:pPr>
                      <a:r>
                        <a:rPr lang="en-US" sz="1400" b="0" u="none" strike="noStrike">
                          <a:solidFill>
                            <a:schemeClr val="dk1"/>
                          </a:solidFill>
                          <a:effectLst/>
                          <a:uFillTx/>
                          <a:latin typeface="Calibri"/>
                        </a:rPr>
                        <a:t>Unexpected server error</a:t>
                      </a:r>
                      <a:endParaRPr lang="pt-PT" sz="1400" b="0" u="none" strike="noStrike">
                        <a:solidFill>
                          <a:srgbClr val="000000"/>
                        </a:solidFill>
                        <a:effectLst/>
                        <a:uFillTx/>
                        <a:latin typeface="Arial"/>
                      </a:endParaRPr>
                    </a:p>
                  </a:txBody>
                  <a:tcPr anchor="ctr" marL="109440" marR="109440" marT="27360" marB="27360">
                    <a:lnL w="9360">
                      <a:solidFill>
                        <a:srgbClr val="D5DCE4"/>
                      </a:solidFill>
                      <a:prstDash val="solid"/>
                    </a:lnL>
                    <a:lnR w="9360">
                      <a:solidFill>
                        <a:srgbClr val="D5DCE4"/>
                      </a:solidFill>
                      <a:prstDash val="solid"/>
                    </a:lnR>
                    <a:lnT w="9360">
                      <a:solidFill>
                        <a:srgbClr val="D5DCE4"/>
                      </a:solidFill>
                      <a:prstDash val="solid"/>
                    </a:lnT>
                    <a:lnB w="9360">
                      <a:solidFill>
                        <a:srgbClr val="D5DCE4"/>
                      </a:solidFill>
                      <a:prstDash val="solid"/>
                    </a:lnB>
                    <a:solidFill>
                      <a:schemeClr val="lt2"/>
                    </a:solidFill>
                  </a:tcPr>
                </a:tc>
                <a:tc>
                  <a:txBody>
                    <a:bodyPr lIns="109440" tIns="27360" rIns="109440" bIns="27360" anchor="ctr">
                      <a:noAutofit/>
                    </a:bodyPr>
                    <a:p>
                      <a:pPr defTabSz="914400">
                        <a:lnSpc>
                          <a:spcPct val="100000"/>
                        </a:lnSpc>
                        <a:tabLst>
                          <a:tab pos="0" algn="l"/>
                        </a:tabLst>
                      </a:pPr>
                      <a:r>
                        <a:rPr lang="en-US" sz="1400" b="0" u="none" strike="noStrike">
                          <a:solidFill>
                            <a:schemeClr val="dk1"/>
                          </a:solidFill>
                          <a:effectLst/>
                          <a:uFillTx/>
                          <a:latin typeface="Calibri"/>
                        </a:rPr>
                        <a:t>500 · generic message</a:t>
                      </a:r>
                      <a:endParaRPr lang="pt-PT" sz="1400" b="0" u="none" strike="noStrike">
                        <a:solidFill>
                          <a:srgbClr val="000000"/>
                        </a:solidFill>
                        <a:effectLst/>
                        <a:uFillTx/>
                        <a:latin typeface="Arial"/>
                      </a:endParaRPr>
                    </a:p>
                  </a:txBody>
                  <a:tcPr anchor="ctr" marL="109440" marR="109440" marT="27360" marB="27360">
                    <a:lnL w="9360">
                      <a:solidFill>
                        <a:srgbClr val="D5DCE4"/>
                      </a:solidFill>
                      <a:prstDash val="solid"/>
                    </a:lnL>
                    <a:lnR w="9360">
                      <a:solidFill>
                        <a:srgbClr val="D5DCE4"/>
                      </a:solidFill>
                      <a:prstDash val="solid"/>
                    </a:lnR>
                    <a:lnT w="9360">
                      <a:solidFill>
                        <a:srgbClr val="D5DCE4"/>
                      </a:solidFill>
                      <a:prstDash val="solid"/>
                    </a:lnT>
                    <a:lnB w="9360">
                      <a:solidFill>
                        <a:srgbClr val="D5DCE4"/>
                      </a:solidFill>
                      <a:prstDash val="solid"/>
                    </a:lnB>
                    <a:solidFill>
                      <a:schemeClr val="lt2"/>
                    </a:solidFill>
                  </a:tcPr>
                </a:tc>
              </a:tr>
              <a:tr h="301680">
                <a:tc>
                  <a:txBody>
                    <a:bodyPr lIns="109440" tIns="27360" rIns="109440" bIns="27360" anchor="ctr">
                      <a:noAutofit/>
                    </a:bodyPr>
                    <a:p>
                      <a:pPr defTabSz="914400">
                        <a:lnSpc>
                          <a:spcPct val="100000"/>
                        </a:lnSpc>
                        <a:tabLst>
                          <a:tab pos="0" algn="l"/>
                        </a:tabLst>
                      </a:pPr>
                      <a:r>
                        <a:rPr lang="en-US" sz="1400" b="0" u="none" strike="noStrike">
                          <a:solidFill>
                            <a:schemeClr val="dk1"/>
                          </a:solidFill>
                          <a:effectLst/>
                          <a:uFillTx/>
                          <a:latin typeface="Calibri"/>
                        </a:rPr>
                        <a:t>Inconsistent profit saved directly</a:t>
                      </a:r>
                      <a:endParaRPr lang="pt-PT" sz="1400" b="0" u="none" strike="noStrike">
                        <a:solidFill>
                          <a:srgbClr val="000000"/>
                        </a:solidFill>
                        <a:effectLst/>
                        <a:uFillTx/>
                        <a:latin typeface="Arial"/>
                      </a:endParaRPr>
                    </a:p>
                  </a:txBody>
                  <a:tcPr anchor="ctr" marL="109440" marR="109440" marT="27360" marB="27360">
                    <a:lnL w="9360">
                      <a:solidFill>
                        <a:srgbClr val="D5DCE4"/>
                      </a:solidFill>
                      <a:prstDash val="solid"/>
                    </a:lnL>
                    <a:lnR w="9360">
                      <a:solidFill>
                        <a:srgbClr val="D5DCE4"/>
                      </a:solidFill>
                      <a:prstDash val="solid"/>
                    </a:lnR>
                    <a:lnT w="9360">
                      <a:solidFill>
                        <a:srgbClr val="D5DCE4"/>
                      </a:solidFill>
                      <a:prstDash val="solid"/>
                    </a:lnT>
                    <a:lnB w="9360">
                      <a:solidFill>
                        <a:srgbClr val="D5DCE4"/>
                      </a:solidFill>
                      <a:prstDash val="solid"/>
                    </a:lnB>
                    <a:solidFill>
                      <a:schemeClr val="lt1"/>
                    </a:solidFill>
                  </a:tcPr>
                </a:tc>
                <a:tc>
                  <a:txBody>
                    <a:bodyPr lIns="109440" tIns="27360" rIns="109440" bIns="27360" anchor="ctr">
                      <a:noAutofit/>
                    </a:bodyPr>
                    <a:p>
                      <a:pPr defTabSz="914400">
                        <a:lnSpc>
                          <a:spcPct val="100000"/>
                        </a:lnSpc>
                        <a:tabLst>
                          <a:tab pos="0" algn="l"/>
                        </a:tabLst>
                      </a:pPr>
                      <a:r>
                        <a:rPr lang="en-US" sz="1400" b="0" u="none" strike="noStrike">
                          <a:solidFill>
                            <a:schemeClr val="dk1"/>
                          </a:solidFill>
                          <a:effectLst/>
                          <a:uFillTx/>
                          <a:latin typeface="Calibri"/>
                        </a:rPr>
                        <a:t>rejected by DB CHECK</a:t>
                      </a:r>
                      <a:endParaRPr lang="pt-PT" sz="1400" b="0" u="none" strike="noStrike">
                        <a:solidFill>
                          <a:srgbClr val="000000"/>
                        </a:solidFill>
                        <a:effectLst/>
                        <a:uFillTx/>
                        <a:latin typeface="Arial"/>
                      </a:endParaRPr>
                    </a:p>
                  </a:txBody>
                  <a:tcPr anchor="ctr" marL="109440" marR="109440" marT="27360" marB="27360">
                    <a:lnL w="9360">
                      <a:solidFill>
                        <a:srgbClr val="D5DCE4"/>
                      </a:solidFill>
                      <a:prstDash val="solid"/>
                    </a:lnL>
                    <a:lnR w="9360">
                      <a:solidFill>
                        <a:srgbClr val="D5DCE4"/>
                      </a:solidFill>
                      <a:prstDash val="solid"/>
                    </a:lnR>
                    <a:lnT w="9360">
                      <a:solidFill>
                        <a:srgbClr val="D5DCE4"/>
                      </a:solidFill>
                      <a:prstDash val="solid"/>
                    </a:lnT>
                    <a:lnB w="9360">
                      <a:solidFill>
                        <a:srgbClr val="D5DCE4"/>
                      </a:solidFill>
                      <a:prstDash val="solid"/>
                    </a:lnB>
                    <a:solidFill>
                      <a:schemeClr val="lt1"/>
                    </a:solidFill>
                  </a:tcPr>
                </a:tc>
              </a:tr>
              <a:tr h="301680">
                <a:tc>
                  <a:txBody>
                    <a:bodyPr lIns="109440" tIns="27360" rIns="109440" bIns="27360" anchor="ctr">
                      <a:noAutofit/>
                    </a:bodyPr>
                    <a:p>
                      <a:pPr defTabSz="914400">
                        <a:lnSpc>
                          <a:spcPct val="100000"/>
                        </a:lnSpc>
                        <a:tabLst>
                          <a:tab pos="0" algn="l"/>
                        </a:tabLst>
                      </a:pPr>
                      <a:r>
                        <a:rPr lang="en-US" sz="1400" b="0" u="none" strike="noStrike">
                          <a:solidFill>
                            <a:schemeClr val="dk1"/>
                          </a:solidFill>
                          <a:effectLst/>
                          <a:uFillTx/>
                          <a:latin typeface="Calibri"/>
                        </a:rPr>
                        <a:t>Deleting a calculation</a:t>
                      </a:r>
                      <a:endParaRPr lang="pt-PT" sz="1400" b="0" u="none" strike="noStrike">
                        <a:solidFill>
                          <a:srgbClr val="000000"/>
                        </a:solidFill>
                        <a:effectLst/>
                        <a:uFillTx/>
                        <a:latin typeface="Arial"/>
                      </a:endParaRPr>
                    </a:p>
                  </a:txBody>
                  <a:tcPr anchor="ctr" marL="109440" marR="109440" marT="27360" marB="27360">
                    <a:lnL w="9360">
                      <a:solidFill>
                        <a:srgbClr val="D5DCE4"/>
                      </a:solidFill>
                      <a:prstDash val="solid"/>
                    </a:lnL>
                    <a:lnR w="9360">
                      <a:solidFill>
                        <a:srgbClr val="D5DCE4"/>
                      </a:solidFill>
                      <a:prstDash val="solid"/>
                    </a:lnR>
                    <a:lnT w="9360">
                      <a:solidFill>
                        <a:srgbClr val="D5DCE4"/>
                      </a:solidFill>
                      <a:prstDash val="solid"/>
                    </a:lnT>
                    <a:lnB w="9360">
                      <a:solidFill>
                        <a:srgbClr val="D5DCE4"/>
                      </a:solidFill>
                      <a:prstDash val="solid"/>
                    </a:lnB>
                    <a:solidFill>
                      <a:schemeClr val="lt2"/>
                    </a:solidFill>
                  </a:tcPr>
                </a:tc>
                <a:tc>
                  <a:txBody>
                    <a:bodyPr lIns="109440" tIns="27360" rIns="109440" bIns="27360" anchor="ctr">
                      <a:noAutofit/>
                    </a:bodyPr>
                    <a:p>
                      <a:pPr defTabSz="914400">
                        <a:lnSpc>
                          <a:spcPct val="100000"/>
                        </a:lnSpc>
                        <a:tabLst>
                          <a:tab pos="0" algn="l"/>
                        </a:tabLst>
                      </a:pPr>
                      <a:r>
                        <a:rPr lang="en-US" sz="1400" b="0" u="none" strike="noStrike">
                          <a:solidFill>
                            <a:schemeClr val="dk1"/>
                          </a:solidFill>
                          <a:effectLst/>
                          <a:uFillTx/>
                          <a:latin typeface="Calibri"/>
                        </a:rPr>
                        <a:t>removes its income &amp; costs</a:t>
                      </a:r>
                      <a:endParaRPr lang="pt-PT" sz="1400" b="0" u="none" strike="noStrike">
                        <a:solidFill>
                          <a:srgbClr val="000000"/>
                        </a:solidFill>
                        <a:effectLst/>
                        <a:uFillTx/>
                        <a:latin typeface="Arial"/>
                      </a:endParaRPr>
                    </a:p>
                  </a:txBody>
                  <a:tcPr anchor="ctr" marL="109440" marR="109440" marT="27360" marB="27360">
                    <a:lnL w="9360">
                      <a:solidFill>
                        <a:srgbClr val="D5DCE4"/>
                      </a:solidFill>
                      <a:prstDash val="solid"/>
                    </a:lnL>
                    <a:lnR w="9360">
                      <a:solidFill>
                        <a:srgbClr val="D5DCE4"/>
                      </a:solidFill>
                      <a:prstDash val="solid"/>
                    </a:lnR>
                    <a:lnT w="9360">
                      <a:solidFill>
                        <a:srgbClr val="D5DCE4"/>
                      </a:solidFill>
                      <a:prstDash val="solid"/>
                    </a:lnT>
                    <a:lnB w="9360">
                      <a:solidFill>
                        <a:srgbClr val="D5DCE4"/>
                      </a:solidFill>
                      <a:prstDash val="solid"/>
                    </a:lnB>
                    <a:solidFill>
                      <a:schemeClr val="lt2"/>
                    </a:solidFill>
                  </a:tcPr>
                </a:tc>
              </a:tr>
            </a:tbl>
          </a:graphicData>
        </a:graphic>
      </p:graphicFrame>
      <p:sp>
        <p:nvSpPr>
          <p:cNvPr id="116" name="Would add card"/>
          <p:cNvSpPr/>
          <p:nvPr/>
        </p:nvSpPr>
        <p:spPr>
          <a:xfrm>
            <a:off x="7772400" y="2606040"/>
            <a:ext cx="3867480" cy="3364560"/>
          </a:xfrm>
          <a:prstGeom prst="roundRect">
            <a:avLst>
              <a:gd name="adj" fmla="val 3261"/>
            </a:avLst>
          </a:prstGeom>
          <a:solidFill>
            <a:schemeClr val="bg2"/>
          </a:solidFill>
          <a:ln w="0">
            <a:noFill/>
          </a:ln>
        </p:spPr>
        <p:style>
          <a:lnRef idx="0"/>
          <a:fillRef idx="0"/>
          <a:effectRef idx="0"/>
          <a:fontRef idx="minor"/>
        </p:style>
        <p:txBody>
          <a:bodyPr lIns="90000" tIns="45000" rIns="90000" bIns="45000" anchor="t">
            <a:noAutofit/>
          </a:bodyPr>
          <a:p>
            <a:endParaRPr lang="pt-PT" sz="1800" b="0" u="none" strike="noStrike">
              <a:solidFill>
                <a:srgbClr val="000000"/>
              </a:solidFill>
              <a:effectLst/>
              <a:uFillTx/>
              <a:latin typeface="Arial"/>
            </a:endParaRPr>
          </a:p>
        </p:txBody>
      </p:sp>
      <p:sp>
        <p:nvSpPr>
          <p:cNvPr id="117" name="Would add heading"/>
          <p:cNvSpPr/>
          <p:nvPr/>
        </p:nvSpPr>
        <p:spPr>
          <a:xfrm>
            <a:off x="8046720" y="2788920"/>
            <a:ext cx="338292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Calibri"/>
              </a:rPr>
              <a:t>Would add next</a:t>
            </a:r>
            <a:endParaRPr lang="pt-PT" sz="1800" b="0" u="none" strike="noStrike">
              <a:solidFill>
                <a:srgbClr val="000000"/>
              </a:solidFill>
              <a:effectLst/>
              <a:uFillTx/>
              <a:latin typeface="Arial"/>
            </a:endParaRPr>
          </a:p>
        </p:txBody>
      </p:sp>
      <p:sp>
        <p:nvSpPr>
          <p:cNvPr id="118" name="Would add note"/>
          <p:cNvSpPr/>
          <p:nvPr/>
        </p:nvSpPr>
        <p:spPr>
          <a:xfrm>
            <a:off x="8046720" y="3154680"/>
            <a:ext cx="33829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i="1" u="none" strike="noStrike">
                <a:solidFill>
                  <a:schemeClr val="accent6"/>
                </a:solidFill>
                <a:effectLst/>
                <a:uFillTx/>
                <a:latin typeface="Calibri"/>
              </a:rPr>
              <a:t>not implemented yet</a:t>
            </a:r>
            <a:endParaRPr lang="pt-PT" sz="1200" b="0" u="none" strike="noStrike">
              <a:solidFill>
                <a:srgbClr val="000000"/>
              </a:solidFill>
              <a:effectLst/>
              <a:uFillTx/>
              <a:latin typeface="Arial"/>
            </a:endParaRPr>
          </a:p>
        </p:txBody>
      </p:sp>
      <p:sp>
        <p:nvSpPr>
          <p:cNvPr id="119" name="Would add list"/>
          <p:cNvSpPr/>
          <p:nvPr/>
        </p:nvSpPr>
        <p:spPr>
          <a:xfrm>
            <a:off x="8046720" y="3520440"/>
            <a:ext cx="3382920" cy="2559960"/>
          </a:xfrm>
          <a:prstGeom prst="rect">
            <a:avLst/>
          </a:prstGeom>
          <a:noFill/>
          <a:ln w="0">
            <a:noFill/>
          </a:ln>
        </p:spPr>
        <p:style>
          <a:lnRef idx="0"/>
          <a:fillRef idx="0"/>
          <a:effectRef idx="0"/>
          <a:fontRef idx="minor"/>
        </p:style>
        <p:txBody>
          <a:bodyPr lIns="0" tIns="0" rIns="0" bIns="0" anchor="t">
            <a:noAutofit/>
          </a:bodyPr>
          <a:p>
            <a:pPr marL="228600" indent="-228600" defTabSz="914400">
              <a:lnSpc>
                <a:spcPct val="100000"/>
              </a:lnSpc>
              <a:spcAft>
                <a:spcPts val="601"/>
              </a:spcAft>
              <a:buClr>
                <a:srgbClr val="1B2733"/>
              </a:buClr>
              <a:buFont typeface="Symbol" charset="2"/>
              <a:buChar char=""/>
            </a:pPr>
            <a:r>
              <a:rPr lang="en-US" sz="1400" b="0" u="none" strike="noStrike">
                <a:solidFill>
                  <a:schemeClr val="dk1"/>
                </a:solidFill>
                <a:effectLst/>
                <a:uFillTx/>
                <a:latin typeface="Calibri"/>
              </a:rPr>
              <a:t>Angular unit tests: form validation and page state</a:t>
            </a:r>
            <a:endParaRPr lang="pt-PT" sz="1400" b="0" u="none" strike="noStrike">
              <a:solidFill>
                <a:srgbClr val="000000"/>
              </a:solidFill>
              <a:effectLst/>
              <a:uFillTx/>
              <a:latin typeface="Arial"/>
            </a:endParaRPr>
          </a:p>
          <a:p>
            <a:pPr marL="228600" indent="-228600" defTabSz="914400">
              <a:lnSpc>
                <a:spcPct val="100000"/>
              </a:lnSpc>
              <a:spcAft>
                <a:spcPts val="601"/>
              </a:spcAft>
              <a:buClr>
                <a:srgbClr val="1B2733"/>
              </a:buClr>
              <a:buFont typeface="Symbol" charset="2"/>
              <a:buChar char=""/>
            </a:pPr>
            <a:r>
              <a:rPr lang="en-US" sz="1400" b="0" u="none" strike="noStrike">
                <a:solidFill>
                  <a:schemeClr val="dk1"/>
                </a:solidFill>
                <a:effectLst/>
                <a:uFillTx/>
                <a:latin typeface="Calibri"/>
              </a:rPr>
              <a:t>End-to-end test of the full flow (Playwright)</a:t>
            </a:r>
            <a:endParaRPr lang="pt-PT" sz="1400" b="0" u="none" strike="noStrike">
              <a:solidFill>
                <a:srgbClr val="000000"/>
              </a:solidFill>
              <a:effectLst/>
              <a:uFillTx/>
              <a:latin typeface="Arial"/>
            </a:endParaRPr>
          </a:p>
          <a:p>
            <a:pPr marL="228600" indent="-228600" defTabSz="914400">
              <a:lnSpc>
                <a:spcPct val="100000"/>
              </a:lnSpc>
              <a:spcAft>
                <a:spcPts val="601"/>
              </a:spcAft>
              <a:buClr>
                <a:srgbClr val="1B2733"/>
              </a:buClr>
              <a:buFont typeface="Symbol" charset="2"/>
              <a:buChar char=""/>
            </a:pPr>
            <a:r>
              <a:rPr lang="en-US" sz="1400" b="0" u="none" strike="noStrike">
                <a:solidFill>
                  <a:schemeClr val="dk1"/>
                </a:solidFill>
                <a:effectLst/>
                <a:uFillTx/>
                <a:latin typeface="Calibri"/>
              </a:rPr>
              <a:t>Full-stack test over real HTTP + H2</a:t>
            </a:r>
            <a:endParaRPr lang="pt-PT" sz="1400" b="0" u="none" strike="noStrike">
              <a:solidFill>
                <a:srgbClr val="000000"/>
              </a:solidFill>
              <a:effectLst/>
              <a:uFillTx/>
              <a:latin typeface="Arial"/>
            </a:endParaRPr>
          </a:p>
          <a:p>
            <a:pPr marL="228600" indent="-228600" defTabSz="914400">
              <a:lnSpc>
                <a:spcPct val="100000"/>
              </a:lnSpc>
              <a:spcAft>
                <a:spcPts val="601"/>
              </a:spcAft>
              <a:buClr>
                <a:srgbClr val="1B2733"/>
              </a:buClr>
              <a:buFont typeface="Symbol" charset="2"/>
              <a:buChar char=""/>
            </a:pPr>
            <a:r>
              <a:rPr lang="en-US" sz="1400" b="0" u="none" strike="noStrike">
                <a:solidFill>
                  <a:schemeClr val="dk1"/>
                </a:solidFill>
                <a:effectLst/>
                <a:uFillTx/>
                <a:latin typeface="Calibri"/>
              </a:rPr>
              <a:t>Zero values and the 10-digit amount limit</a:t>
            </a:r>
            <a:endParaRPr lang="pt-PT" sz="1400" b="0" u="none" strike="noStrike">
              <a:solidFill>
                <a:srgbClr val="000000"/>
              </a:solidFill>
              <a:effectLst/>
              <a:uFillTx/>
              <a:latin typeface="Arial"/>
            </a:endParaRPr>
          </a:p>
          <a:p>
            <a:pPr marL="228600" indent="-228600" defTabSz="914400">
              <a:lnSpc>
                <a:spcPct val="100000"/>
              </a:lnSpc>
              <a:spcAft>
                <a:spcPts val="601"/>
              </a:spcAft>
              <a:buClr>
                <a:srgbClr val="1B2733"/>
              </a:buClr>
              <a:buFont typeface="Symbol" charset="2"/>
              <a:buChar char=""/>
            </a:pPr>
            <a:r>
              <a:rPr lang="en-US" sz="1400" b="0" u="none" strike="noStrike">
                <a:solidFill>
                  <a:schemeClr val="dk1"/>
                </a:solidFill>
                <a:effectLst/>
                <a:uFillTx/>
                <a:latin typeface="Calibri"/>
              </a:rPr>
              <a:t>Two calculations at the same time</a:t>
            </a:r>
            <a:endParaRPr lang="pt-PT" sz="1400" b="0" u="none" strike="noStrike">
              <a:solidFill>
                <a:srgbClr val="000000"/>
              </a:solidFill>
              <a:effectLst/>
              <a:uFillTx/>
              <a:latin typeface="Arial"/>
            </a:endParaRPr>
          </a:p>
        </p:txBody>
      </p:sp>
      <p:sp>
        <p:nvSpPr>
          <p:cNvPr id="120" name="PlaceHolder 2"/>
          <p:cNvSpPr>
            <a:spLocks noGrp="1"/>
          </p:cNvSpPr>
          <p:nvPr>
            <p:ph type="sldNum" idx="11"/>
          </p:nvPr>
        </p:nvSpPr>
        <p:spPr>
          <a:xfrm>
            <a:off x="11183040" y="6419160"/>
            <a:ext cx="456840" cy="273960"/>
          </a:xfrm>
          <a:prstGeom prst="rect">
            <a:avLst/>
          </a:prstGeom>
          <a:noFill/>
          <a:ln w="0">
            <a:noFill/>
          </a:ln>
        </p:spPr>
        <p:txBody>
          <a:bodyPr lIns="0" tIns="0" rIns="0" bIns="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304A7D04-AC61-4FB3-A9E7-C1ABDB27A2EC}" type="slidenum">
              <a:rPr lang="en-US" sz="1000" b="0" u="none" strike="noStrike">
                <a:solidFill>
                  <a:schemeClr val="accent6"/>
                </a:solidFill>
                <a:effectLst/>
                <a:uFillTx/>
                <a:latin typeface="Calibri"/>
              </a:rPr>
              <a:t>&lt;número&gt;</a:t>
            </a:fld>
            <a:endParaRPr lang="pt-PT"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title" hasCustomPrompt="1"/>
          </p:nvPr>
        </p:nvSpPr>
        <p:spPr>
          <a:xfrm>
            <a:off x="548640" y="365760"/>
            <a:ext cx="1109124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400" b="1" u="none" strike="noStrike">
                <a:solidFill>
                  <a:schemeClr val="dk2"/>
                </a:solidFill>
                <a:effectLst/>
                <a:uFillTx/>
                <a:latin typeface="Calibri"/>
              </a:rPr>
              <a:t>Design decisions and improvements</a:t>
            </a:r>
            <a:endParaRPr lang="pt-PT" sz="3400" b="0" u="none" strike="noStrike">
              <a:solidFill>
                <a:schemeClr val="dk1"/>
              </a:solidFill>
              <a:effectLst/>
              <a:uFillTx/>
              <a:latin typeface="Calibri"/>
            </a:endParaRPr>
          </a:p>
        </p:txBody>
      </p:sp>
      <p:sp>
        <p:nvSpPr>
          <p:cNvPr id="122" name="Decision badge 1"/>
          <p:cNvSpPr/>
          <p:nvPr/>
        </p:nvSpPr>
        <p:spPr>
          <a:xfrm>
            <a:off x="548640" y="1344240"/>
            <a:ext cx="502560" cy="502560"/>
          </a:xfrm>
          <a:prstGeom prst="ellipse">
            <a:avLst/>
          </a:prstGeom>
          <a:solidFill>
            <a:schemeClr val="tx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chemeClr val="lt1"/>
                </a:solidFill>
                <a:effectLst/>
                <a:uFillTx/>
                <a:latin typeface="Calibri"/>
              </a:rPr>
              <a:t>1</a:t>
            </a:r>
            <a:endParaRPr lang="pt-PT" sz="1600" b="0" u="none" strike="noStrike">
              <a:solidFill>
                <a:srgbClr val="FFFFFF"/>
              </a:solidFill>
              <a:effectLst/>
              <a:uFillTx/>
              <a:latin typeface="Arial"/>
            </a:endParaRPr>
          </a:p>
        </p:txBody>
      </p:sp>
      <p:sp>
        <p:nvSpPr>
          <p:cNvPr id="123" name="Decision heading 1"/>
          <p:cNvSpPr/>
          <p:nvPr/>
        </p:nvSpPr>
        <p:spPr>
          <a:xfrm>
            <a:off x="1280160" y="1325880"/>
            <a:ext cx="612612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Calibri"/>
              </a:rPr>
              <a:t>Controller · service · repository</a:t>
            </a:r>
            <a:endParaRPr lang="pt-PT" sz="1800" b="0" u="none" strike="noStrike">
              <a:solidFill>
                <a:srgbClr val="000000"/>
              </a:solidFill>
              <a:effectLst/>
              <a:uFillTx/>
              <a:latin typeface="Arial"/>
            </a:endParaRPr>
          </a:p>
        </p:txBody>
      </p:sp>
      <p:sp>
        <p:nvSpPr>
          <p:cNvPr id="124" name="Decision body 1"/>
          <p:cNvSpPr/>
          <p:nvPr/>
        </p:nvSpPr>
        <p:spPr>
          <a:xfrm>
            <a:off x="1280160" y="1737360"/>
            <a:ext cx="612612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chemeClr val="dk1"/>
                </a:solidFill>
                <a:effectLst/>
                <a:uFillTx/>
                <a:latin typeface="Calibri"/>
              </a:rPr>
              <a:t>HTTP, business rules and persistence change for different reasons — and each layer is tested on its own.</a:t>
            </a:r>
            <a:endParaRPr lang="pt-PT" sz="1500" b="0" u="none" strike="noStrike">
              <a:solidFill>
                <a:srgbClr val="000000"/>
              </a:solidFill>
              <a:effectLst/>
              <a:uFillTx/>
              <a:latin typeface="Arial"/>
            </a:endParaRPr>
          </a:p>
        </p:txBody>
      </p:sp>
      <p:sp>
        <p:nvSpPr>
          <p:cNvPr id="125" name="Decision badge 2"/>
          <p:cNvSpPr/>
          <p:nvPr/>
        </p:nvSpPr>
        <p:spPr>
          <a:xfrm>
            <a:off x="548640" y="2560320"/>
            <a:ext cx="502560" cy="502560"/>
          </a:xfrm>
          <a:prstGeom prst="ellipse">
            <a:avLst/>
          </a:prstGeom>
          <a:solidFill>
            <a:schemeClr val="tx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chemeClr val="lt1"/>
                </a:solidFill>
                <a:effectLst/>
                <a:uFillTx/>
                <a:latin typeface="Calibri"/>
              </a:rPr>
              <a:t>2</a:t>
            </a:r>
            <a:endParaRPr lang="pt-PT" sz="1600" b="0" u="none" strike="noStrike">
              <a:solidFill>
                <a:srgbClr val="FFFFFF"/>
              </a:solidFill>
              <a:effectLst/>
              <a:uFillTx/>
              <a:latin typeface="Arial"/>
            </a:endParaRPr>
          </a:p>
        </p:txBody>
      </p:sp>
      <p:sp>
        <p:nvSpPr>
          <p:cNvPr id="126" name="Decision heading 2"/>
          <p:cNvSpPr/>
          <p:nvPr/>
        </p:nvSpPr>
        <p:spPr>
          <a:xfrm>
            <a:off x="1260000" y="2541960"/>
            <a:ext cx="614628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Calibri"/>
              </a:rPr>
              <a:t>Validation at three levels</a:t>
            </a:r>
            <a:endParaRPr lang="pt-PT" sz="1800" b="0" u="none" strike="noStrike">
              <a:solidFill>
                <a:srgbClr val="000000"/>
              </a:solidFill>
              <a:effectLst/>
              <a:uFillTx/>
              <a:latin typeface="Arial"/>
            </a:endParaRPr>
          </a:p>
        </p:txBody>
      </p:sp>
      <p:sp>
        <p:nvSpPr>
          <p:cNvPr id="127" name="Decision body 2"/>
          <p:cNvSpPr/>
          <p:nvPr/>
        </p:nvSpPr>
        <p:spPr>
          <a:xfrm>
            <a:off x="1280160" y="2953440"/>
            <a:ext cx="612612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chemeClr val="dk1"/>
                </a:solidFill>
                <a:effectLst/>
                <a:uFillTx/>
                <a:latin typeface="Calibri"/>
              </a:rPr>
              <a:t>Angular validators for fast feedback, @Valid → 400 ProblemDetail on the API, CHECK constraints in the database.</a:t>
            </a:r>
            <a:endParaRPr lang="pt-PT" sz="1500" b="0" u="none" strike="noStrike">
              <a:solidFill>
                <a:srgbClr val="000000"/>
              </a:solidFill>
              <a:effectLst/>
              <a:uFillTx/>
              <a:latin typeface="Arial"/>
            </a:endParaRPr>
          </a:p>
        </p:txBody>
      </p:sp>
      <p:sp>
        <p:nvSpPr>
          <p:cNvPr id="128" name="Decision badge 3"/>
          <p:cNvSpPr/>
          <p:nvPr/>
        </p:nvSpPr>
        <p:spPr>
          <a:xfrm>
            <a:off x="548640" y="3776400"/>
            <a:ext cx="502560" cy="502560"/>
          </a:xfrm>
          <a:prstGeom prst="ellipse">
            <a:avLst/>
          </a:prstGeom>
          <a:solidFill>
            <a:schemeClr val="tx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chemeClr val="lt1"/>
                </a:solidFill>
                <a:effectLst/>
                <a:uFillTx/>
                <a:latin typeface="Calibri"/>
              </a:rPr>
              <a:t>3</a:t>
            </a:r>
            <a:endParaRPr lang="pt-PT" sz="1600" b="0" u="none" strike="noStrike">
              <a:solidFill>
                <a:srgbClr val="FFFFFF"/>
              </a:solidFill>
              <a:effectLst/>
              <a:uFillTx/>
              <a:latin typeface="Arial"/>
            </a:endParaRPr>
          </a:p>
        </p:txBody>
      </p:sp>
      <p:sp>
        <p:nvSpPr>
          <p:cNvPr id="129" name="Decision heading 3"/>
          <p:cNvSpPr/>
          <p:nvPr/>
        </p:nvSpPr>
        <p:spPr>
          <a:xfrm>
            <a:off x="1280160" y="3758040"/>
            <a:ext cx="612612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Calibri"/>
              </a:rPr>
              <a:t>Each calculation is independent</a:t>
            </a:r>
            <a:endParaRPr lang="pt-PT" sz="1800" b="0" u="none" strike="noStrike">
              <a:solidFill>
                <a:srgbClr val="000000"/>
              </a:solidFill>
              <a:effectLst/>
              <a:uFillTx/>
              <a:latin typeface="Arial"/>
            </a:endParaRPr>
          </a:p>
        </p:txBody>
      </p:sp>
      <p:sp>
        <p:nvSpPr>
          <p:cNvPr id="130" name="Decision body 3"/>
          <p:cNvSpPr/>
          <p:nvPr/>
        </p:nvSpPr>
        <p:spPr>
          <a:xfrm>
            <a:off x="1280160" y="4169520"/>
            <a:ext cx="612612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chemeClr val="dk1"/>
                </a:solidFill>
                <a:effectLst/>
                <a:uFillTx/>
                <a:latin typeface="Calibri"/>
              </a:rPr>
              <a:t>It owns its income and costs, matching the prototype history; totals are stored, not re-summed.</a:t>
            </a:r>
            <a:endParaRPr lang="pt-PT" sz="1500" b="0" u="none" strike="noStrike">
              <a:solidFill>
                <a:srgbClr val="000000"/>
              </a:solidFill>
              <a:effectLst/>
              <a:uFillTx/>
              <a:latin typeface="Arial"/>
            </a:endParaRPr>
          </a:p>
        </p:txBody>
      </p:sp>
      <p:sp>
        <p:nvSpPr>
          <p:cNvPr id="131" name="Decision badge 4"/>
          <p:cNvSpPr/>
          <p:nvPr/>
        </p:nvSpPr>
        <p:spPr>
          <a:xfrm>
            <a:off x="548640" y="4992480"/>
            <a:ext cx="502560" cy="502560"/>
          </a:xfrm>
          <a:prstGeom prst="ellipse">
            <a:avLst/>
          </a:prstGeom>
          <a:solidFill>
            <a:schemeClr val="tx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chemeClr val="lt1"/>
                </a:solidFill>
                <a:effectLst/>
                <a:uFillTx/>
                <a:latin typeface="Calibri"/>
              </a:rPr>
              <a:t>4</a:t>
            </a:r>
            <a:endParaRPr lang="pt-PT" sz="1600" b="0" u="none" strike="noStrike">
              <a:solidFill>
                <a:srgbClr val="FFFFFF"/>
              </a:solidFill>
              <a:effectLst/>
              <a:uFillTx/>
              <a:latin typeface="Arial"/>
            </a:endParaRPr>
          </a:p>
        </p:txBody>
      </p:sp>
      <p:sp>
        <p:nvSpPr>
          <p:cNvPr id="132" name="Decision heading 4"/>
          <p:cNvSpPr/>
          <p:nvPr/>
        </p:nvSpPr>
        <p:spPr>
          <a:xfrm>
            <a:off x="1280160" y="4974480"/>
            <a:ext cx="612612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Calibri"/>
              </a:rPr>
              <a:t>Money as BigDecimal and DTO records</a:t>
            </a:r>
            <a:endParaRPr lang="pt-PT" sz="1800" b="0" u="none" strike="noStrike">
              <a:solidFill>
                <a:srgbClr val="000000"/>
              </a:solidFill>
              <a:effectLst/>
              <a:uFillTx/>
              <a:latin typeface="Arial"/>
            </a:endParaRPr>
          </a:p>
        </p:txBody>
      </p:sp>
      <p:sp>
        <p:nvSpPr>
          <p:cNvPr id="133" name="Decision body 4"/>
          <p:cNvSpPr/>
          <p:nvPr/>
        </p:nvSpPr>
        <p:spPr>
          <a:xfrm>
            <a:off x="1280160" y="5385960"/>
            <a:ext cx="612612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chemeClr val="dk1"/>
                </a:solidFill>
                <a:effectLst/>
                <a:uFillTx/>
                <a:latin typeface="Calibri"/>
              </a:rPr>
              <a:t>No floating-point rounding (DECIMAL 12,2); entities never leave the API, mappers build the responses.</a:t>
            </a:r>
            <a:endParaRPr lang="pt-PT" sz="1500" b="0" u="none" strike="noStrike">
              <a:solidFill>
                <a:srgbClr val="000000"/>
              </a:solidFill>
              <a:effectLst/>
              <a:uFillTx/>
              <a:latin typeface="Arial"/>
            </a:endParaRPr>
          </a:p>
        </p:txBody>
      </p:sp>
      <p:sp>
        <p:nvSpPr>
          <p:cNvPr id="134" name="Improvements card"/>
          <p:cNvSpPr/>
          <p:nvPr/>
        </p:nvSpPr>
        <p:spPr>
          <a:xfrm>
            <a:off x="7818120" y="1325880"/>
            <a:ext cx="3821760" cy="4891680"/>
          </a:xfrm>
          <a:prstGeom prst="roundRect">
            <a:avLst>
              <a:gd name="adj" fmla="val 2871"/>
            </a:avLst>
          </a:prstGeom>
          <a:solidFill>
            <a:schemeClr val="bg2"/>
          </a:solidFill>
          <a:ln w="0">
            <a:noFill/>
          </a:ln>
        </p:spPr>
        <p:style>
          <a:lnRef idx="0"/>
          <a:fillRef idx="0"/>
          <a:effectRef idx="0"/>
          <a:fontRef idx="minor"/>
        </p:style>
        <p:txBody>
          <a:bodyPr lIns="90000" tIns="45000" rIns="90000" bIns="45000" anchor="t">
            <a:noAutofit/>
          </a:bodyPr>
          <a:p>
            <a:endParaRPr lang="pt-PT" sz="1800" b="0" u="none" strike="noStrike">
              <a:solidFill>
                <a:srgbClr val="000000"/>
              </a:solidFill>
              <a:effectLst/>
              <a:uFillTx/>
              <a:latin typeface="Arial"/>
            </a:endParaRPr>
          </a:p>
        </p:txBody>
      </p:sp>
      <p:sp>
        <p:nvSpPr>
          <p:cNvPr id="135" name="Improvements heading"/>
          <p:cNvSpPr/>
          <p:nvPr/>
        </p:nvSpPr>
        <p:spPr>
          <a:xfrm>
            <a:off x="8092440" y="1554480"/>
            <a:ext cx="329148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Calibri"/>
              </a:rPr>
              <a:t>With more time</a:t>
            </a:r>
            <a:endParaRPr lang="pt-PT" sz="1800" b="0" u="none" strike="noStrike">
              <a:solidFill>
                <a:srgbClr val="000000"/>
              </a:solidFill>
              <a:effectLst/>
              <a:uFillTx/>
              <a:latin typeface="Arial"/>
            </a:endParaRPr>
          </a:p>
        </p:txBody>
      </p:sp>
      <p:sp>
        <p:nvSpPr>
          <p:cNvPr id="136" name="Improvements list"/>
          <p:cNvSpPr/>
          <p:nvPr/>
        </p:nvSpPr>
        <p:spPr>
          <a:xfrm>
            <a:off x="8092440" y="2103120"/>
            <a:ext cx="3291480" cy="3931560"/>
          </a:xfrm>
          <a:prstGeom prst="rect">
            <a:avLst/>
          </a:prstGeom>
          <a:noFill/>
          <a:ln w="0">
            <a:noFill/>
          </a:ln>
        </p:spPr>
        <p:style>
          <a:lnRef idx="0"/>
          <a:fillRef idx="0"/>
          <a:effectRef idx="0"/>
          <a:fontRef idx="minor"/>
        </p:style>
        <p:txBody>
          <a:bodyPr lIns="0" tIns="0" rIns="0" bIns="0" anchor="t">
            <a:noAutofit/>
          </a:bodyPr>
          <a:p>
            <a:pPr marL="228600" indent="-228600" defTabSz="914400">
              <a:lnSpc>
                <a:spcPct val="100000"/>
              </a:lnSpc>
              <a:spcAft>
                <a:spcPts val="1400"/>
              </a:spcAft>
              <a:buClr>
                <a:srgbClr val="1B2733"/>
              </a:buClr>
              <a:buFont typeface="Symbol" charset="2"/>
              <a:buChar char=""/>
            </a:pPr>
            <a:r>
              <a:rPr lang="en-US" sz="1600" b="0" u="none" strike="noStrike">
                <a:solidFill>
                  <a:schemeClr val="dk1"/>
                </a:solidFill>
                <a:effectLst/>
                <a:uFillTx/>
                <a:latin typeface="Calibri"/>
              </a:rPr>
              <a:t>Login and roles with Spring Security</a:t>
            </a:r>
            <a:endParaRPr lang="pt-PT" sz="1600" b="0" u="none" strike="noStrike">
              <a:solidFill>
                <a:srgbClr val="000000"/>
              </a:solidFill>
              <a:effectLst/>
              <a:uFillTx/>
              <a:latin typeface="Arial"/>
            </a:endParaRPr>
          </a:p>
          <a:p>
            <a:pPr marL="228600" indent="-228600" defTabSz="914400">
              <a:lnSpc>
                <a:spcPct val="100000"/>
              </a:lnSpc>
              <a:spcAft>
                <a:spcPts val="1400"/>
              </a:spcAft>
              <a:buClr>
                <a:srgbClr val="1B2733"/>
              </a:buClr>
              <a:buFont typeface="Symbol" charset="2"/>
              <a:buChar char=""/>
            </a:pPr>
            <a:r>
              <a:rPr lang="en-US" sz="1600" b="0" u="none" strike="noStrike">
                <a:solidFill>
                  <a:schemeClr val="dk1"/>
                </a:solidFill>
                <a:effectLst/>
                <a:uFillTx/>
                <a:latin typeface="Calibri"/>
              </a:rPr>
              <a:t>PostgreSQL with Flyway migrations instead of in-memory H2</a:t>
            </a:r>
            <a:endParaRPr lang="pt-PT" sz="1600" b="0" u="none" strike="noStrike">
              <a:solidFill>
                <a:srgbClr val="000000"/>
              </a:solidFill>
              <a:effectLst/>
              <a:uFillTx/>
              <a:latin typeface="Arial"/>
            </a:endParaRPr>
          </a:p>
          <a:p>
            <a:pPr marL="228600" indent="-228600" defTabSz="914400">
              <a:lnSpc>
                <a:spcPct val="100000"/>
              </a:lnSpc>
              <a:spcAft>
                <a:spcPts val="1400"/>
              </a:spcAft>
              <a:buClr>
                <a:srgbClr val="1B2733"/>
              </a:buClr>
              <a:buFont typeface="Symbol" charset="2"/>
              <a:buChar char=""/>
            </a:pPr>
            <a:r>
              <a:rPr lang="en-US" sz="1600" b="0" u="none" strike="noStrike">
                <a:solidFill>
                  <a:schemeClr val="dk1"/>
                </a:solidFill>
                <a:effectLst/>
                <a:uFillTx/>
                <a:latin typeface="Calibri"/>
              </a:rPr>
              <a:t>Frontend and end-to-end tests in CI</a:t>
            </a:r>
            <a:endParaRPr lang="pt-PT" sz="1600" b="0" u="none" strike="noStrike">
              <a:solidFill>
                <a:srgbClr val="000000"/>
              </a:solidFill>
              <a:effectLst/>
              <a:uFillTx/>
              <a:latin typeface="Arial"/>
            </a:endParaRPr>
          </a:p>
          <a:p>
            <a:pPr marL="228600" indent="-228600" defTabSz="914400">
              <a:lnSpc>
                <a:spcPct val="100000"/>
              </a:lnSpc>
              <a:spcAft>
                <a:spcPts val="1400"/>
              </a:spcAft>
              <a:buClr>
                <a:srgbClr val="1B2733"/>
              </a:buClr>
              <a:buFont typeface="Symbol" charset="2"/>
              <a:buChar char=""/>
            </a:pPr>
            <a:r>
              <a:rPr lang="en-US" sz="1600" b="0" u="none" strike="noStrike">
                <a:solidFill>
                  <a:schemeClr val="dk1"/>
                </a:solidFill>
                <a:effectLst/>
                <a:uFillTx/>
                <a:latin typeface="Calibri"/>
              </a:rPr>
              <a:t>OpenAPI / Swagger documentation</a:t>
            </a:r>
            <a:endParaRPr lang="pt-PT" sz="1600" b="0" u="none" strike="noStrike">
              <a:solidFill>
                <a:srgbClr val="000000"/>
              </a:solidFill>
              <a:effectLst/>
              <a:uFillTx/>
              <a:latin typeface="Arial"/>
            </a:endParaRPr>
          </a:p>
          <a:p>
            <a:pPr marL="228600" indent="-228600" defTabSz="914400">
              <a:lnSpc>
                <a:spcPct val="100000"/>
              </a:lnSpc>
              <a:spcAft>
                <a:spcPts val="1400"/>
              </a:spcAft>
              <a:buClr>
                <a:srgbClr val="1B2733"/>
              </a:buClr>
              <a:buFont typeface="Symbol" charset="2"/>
              <a:buChar char=""/>
            </a:pPr>
            <a:r>
              <a:rPr lang="en-US" sz="1600" b="0" u="none" strike="noStrike">
                <a:solidFill>
                  <a:schemeClr val="dk1"/>
                </a:solidFill>
                <a:effectLst/>
                <a:uFillTx/>
                <a:latin typeface="Calibri"/>
              </a:rPr>
              <a:t>Pagination and filters for long histories</a:t>
            </a:r>
            <a:endParaRPr lang="pt-PT" sz="1600" b="0" u="none" strike="noStrike">
              <a:solidFill>
                <a:srgbClr val="000000"/>
              </a:solidFill>
              <a:effectLst/>
              <a:uFillTx/>
              <a:latin typeface="Arial"/>
            </a:endParaRPr>
          </a:p>
          <a:p>
            <a:pPr marL="228600" indent="-228600" defTabSz="914400">
              <a:lnSpc>
                <a:spcPct val="100000"/>
              </a:lnSpc>
              <a:spcAft>
                <a:spcPts val="1400"/>
              </a:spcAft>
              <a:buClr>
                <a:srgbClr val="1B2733"/>
              </a:buClr>
              <a:buFont typeface="Symbol" charset="2"/>
              <a:buChar char=""/>
            </a:pPr>
            <a:r>
              <a:rPr lang="en-US" sz="1600" b="0" u="none" strike="noStrike">
                <a:solidFill>
                  <a:schemeClr val="dk1"/>
                </a:solidFill>
                <a:effectLst/>
                <a:uFillTx/>
                <a:latin typeface="Calibri"/>
              </a:rPr>
              <a:t>Docker Compose to start everything with one command</a:t>
            </a:r>
            <a:endParaRPr lang="pt-PT" sz="1600" b="0" u="none" strike="noStrike">
              <a:solidFill>
                <a:srgbClr val="000000"/>
              </a:solidFill>
              <a:effectLst/>
              <a:uFillTx/>
              <a:latin typeface="Arial"/>
            </a:endParaRPr>
          </a:p>
        </p:txBody>
      </p:sp>
      <p:sp>
        <p:nvSpPr>
          <p:cNvPr id="137" name="PlaceHolder 2"/>
          <p:cNvSpPr>
            <a:spLocks noGrp="1"/>
          </p:cNvSpPr>
          <p:nvPr>
            <p:ph type="sldNum" idx="12"/>
          </p:nvPr>
        </p:nvSpPr>
        <p:spPr>
          <a:xfrm>
            <a:off x="11183040" y="6419160"/>
            <a:ext cx="456840" cy="273960"/>
          </a:xfrm>
          <a:prstGeom prst="rect">
            <a:avLst/>
          </a:prstGeom>
          <a:noFill/>
          <a:ln w="0">
            <a:noFill/>
          </a:ln>
        </p:spPr>
        <p:txBody>
          <a:bodyPr lIns="0" tIns="0" rIns="0" bIns="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66E85802-AADD-4FBA-B96A-1B814CC8C343}" type="slidenum">
              <a:rPr lang="en-US" sz="1000" b="0" u="none" strike="noStrike">
                <a:solidFill>
                  <a:schemeClr val="accent6"/>
                </a:solidFill>
                <a:effectLst/>
                <a:uFillTx/>
                <a:latin typeface="Calibri"/>
              </a:rPr>
              <a:t>&lt;número&gt;</a:t>
            </a:fld>
            <a:endParaRPr lang="pt-PT"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hasCustomPrompt="1"/>
          </p:nvPr>
        </p:nvSpPr>
        <p:spPr>
          <a:xfrm>
            <a:off x="548640" y="365760"/>
            <a:ext cx="1109124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400" b="1" u="none" strike="noStrike">
                <a:solidFill>
                  <a:schemeClr val="lt1"/>
                </a:solidFill>
                <a:effectLst/>
                <a:uFillTx/>
                <a:latin typeface="Calibri"/>
              </a:rPr>
              <a:t>Conclusion</a:t>
            </a:r>
            <a:endParaRPr lang="pt-PT" sz="3400" b="0" u="none" strike="noStrike">
              <a:solidFill>
                <a:schemeClr val="dk1"/>
              </a:solidFill>
              <a:effectLst/>
              <a:uFillTx/>
              <a:latin typeface="Calibri"/>
            </a:endParaRPr>
          </a:p>
        </p:txBody>
      </p:sp>
      <p:sp>
        <p:nvSpPr>
          <p:cNvPr id="139" name="What I built card"/>
          <p:cNvSpPr/>
          <p:nvPr/>
        </p:nvSpPr>
        <p:spPr>
          <a:xfrm>
            <a:off x="548640" y="1417320"/>
            <a:ext cx="3501720" cy="2239920"/>
          </a:xfrm>
          <a:prstGeom prst="roundRect">
            <a:avLst>
              <a:gd name="adj" fmla="val 4898"/>
            </a:avLst>
          </a:prstGeom>
          <a:solidFill>
            <a:schemeClr val="lt1">
              <a:alpha val="10000"/>
            </a:schemeClr>
          </a:solidFill>
          <a:ln w="0">
            <a:noFill/>
          </a:ln>
        </p:spPr>
        <p:style>
          <a:lnRef idx="0"/>
          <a:fillRef idx="0"/>
          <a:effectRef idx="0"/>
          <a:fontRef idx="minor"/>
        </p:style>
        <p:txBody>
          <a:bodyPr lIns="90000" tIns="45000" rIns="90000" bIns="45000" anchor="t">
            <a:noAutofit/>
          </a:bodyPr>
          <a:p>
            <a:endParaRPr lang="pt-PT" sz="1800" b="0" u="none" strike="noStrike">
              <a:solidFill>
                <a:srgbClr val="000000"/>
              </a:solidFill>
              <a:effectLst/>
              <a:uFillTx/>
              <a:latin typeface="Arial"/>
            </a:endParaRPr>
          </a:p>
        </p:txBody>
      </p:sp>
      <p:sp>
        <p:nvSpPr>
          <p:cNvPr id="140" name="What I built label"/>
          <p:cNvSpPr/>
          <p:nvPr/>
        </p:nvSpPr>
        <p:spPr>
          <a:xfrm>
            <a:off x="822960" y="1645920"/>
            <a:ext cx="30171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201" strike="noStrike">
                <a:solidFill>
                  <a:schemeClr val="accent1"/>
                </a:solidFill>
                <a:effectLst/>
                <a:uFillTx/>
                <a:latin typeface="Calibri"/>
              </a:rPr>
              <a:t>WHAT I BUILT</a:t>
            </a:r>
            <a:endParaRPr lang="pt-PT" sz="1200" b="0" u="none" strike="noStrike">
              <a:solidFill>
                <a:srgbClr val="FFFFFF"/>
              </a:solidFill>
              <a:effectLst/>
              <a:uFillTx/>
              <a:latin typeface="Arial"/>
            </a:endParaRPr>
          </a:p>
        </p:txBody>
      </p:sp>
      <p:sp>
        <p:nvSpPr>
          <p:cNvPr id="141" name="What I built text"/>
          <p:cNvSpPr/>
          <p:nvPr/>
        </p:nvSpPr>
        <p:spPr>
          <a:xfrm>
            <a:off x="822960" y="2057400"/>
            <a:ext cx="2971440" cy="1828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lt1"/>
                </a:solidFill>
                <a:effectLst/>
                <a:uFillTx/>
                <a:latin typeface="Calibri"/>
              </a:rPr>
              <a:t>A full-stack app — Angular UI, Spring Boot REST API and H2 — that calculates profit or loss per shipment and keeps its history.</a:t>
            </a:r>
            <a:endParaRPr lang="pt-PT" sz="1600" b="0" u="none" strike="noStrike">
              <a:solidFill>
                <a:srgbClr val="FFFFFF"/>
              </a:solidFill>
              <a:effectLst/>
              <a:uFillTx/>
              <a:latin typeface="Arial"/>
            </a:endParaRPr>
          </a:p>
        </p:txBody>
      </p:sp>
      <p:sp>
        <p:nvSpPr>
          <p:cNvPr id="142" name="Key decision card"/>
          <p:cNvSpPr/>
          <p:nvPr/>
        </p:nvSpPr>
        <p:spPr>
          <a:xfrm>
            <a:off x="4343400" y="1417320"/>
            <a:ext cx="3501720" cy="2239920"/>
          </a:xfrm>
          <a:prstGeom prst="roundRect">
            <a:avLst>
              <a:gd name="adj" fmla="val 4898"/>
            </a:avLst>
          </a:prstGeom>
          <a:solidFill>
            <a:schemeClr val="lt1">
              <a:alpha val="10000"/>
            </a:schemeClr>
          </a:solidFill>
          <a:ln w="0">
            <a:noFill/>
          </a:ln>
        </p:spPr>
        <p:style>
          <a:lnRef idx="0"/>
          <a:fillRef idx="0"/>
          <a:effectRef idx="0"/>
          <a:fontRef idx="minor"/>
        </p:style>
        <p:txBody>
          <a:bodyPr lIns="90000" tIns="45000" rIns="90000" bIns="45000" anchor="t">
            <a:noAutofit/>
          </a:bodyPr>
          <a:p>
            <a:endParaRPr lang="pt-PT" sz="1800" b="0" u="none" strike="noStrike">
              <a:solidFill>
                <a:srgbClr val="000000"/>
              </a:solidFill>
              <a:effectLst/>
              <a:uFillTx/>
              <a:latin typeface="Arial"/>
            </a:endParaRPr>
          </a:p>
        </p:txBody>
      </p:sp>
      <p:sp>
        <p:nvSpPr>
          <p:cNvPr id="143" name="Key decision label"/>
          <p:cNvSpPr/>
          <p:nvPr/>
        </p:nvSpPr>
        <p:spPr>
          <a:xfrm>
            <a:off x="4617720" y="1645920"/>
            <a:ext cx="30171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201" strike="noStrike">
                <a:solidFill>
                  <a:schemeClr val="accent1"/>
                </a:solidFill>
                <a:effectLst/>
                <a:uFillTx/>
                <a:latin typeface="Calibri"/>
              </a:rPr>
              <a:t>KEY DECISION</a:t>
            </a:r>
            <a:endParaRPr lang="pt-PT" sz="1200" b="0" u="none" strike="noStrike">
              <a:solidFill>
                <a:srgbClr val="FFFFFF"/>
              </a:solidFill>
              <a:effectLst/>
              <a:uFillTx/>
              <a:latin typeface="Arial"/>
            </a:endParaRPr>
          </a:p>
        </p:txBody>
      </p:sp>
      <p:sp>
        <p:nvSpPr>
          <p:cNvPr id="144" name="Key decision text"/>
          <p:cNvSpPr/>
          <p:nvPr/>
        </p:nvSpPr>
        <p:spPr>
          <a:xfrm>
            <a:off x="4617720" y="2057400"/>
            <a:ext cx="2971440" cy="1828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lt1"/>
                </a:solidFill>
                <a:effectLst/>
                <a:uFillTx/>
                <a:latin typeface="Calibri"/>
              </a:rPr>
              <a:t>Each calculation owns its income and costs and is saved in one transaction, with the result guarded by the database.</a:t>
            </a:r>
            <a:endParaRPr lang="pt-PT" sz="1600" b="0" u="none" strike="noStrike">
              <a:solidFill>
                <a:srgbClr val="FFFFFF"/>
              </a:solidFill>
              <a:effectLst/>
              <a:uFillTx/>
              <a:latin typeface="Arial"/>
            </a:endParaRPr>
          </a:p>
        </p:txBody>
      </p:sp>
      <p:sp>
        <p:nvSpPr>
          <p:cNvPr id="145" name="What I learned card"/>
          <p:cNvSpPr/>
          <p:nvPr/>
        </p:nvSpPr>
        <p:spPr>
          <a:xfrm>
            <a:off x="8138160" y="1417320"/>
            <a:ext cx="3501720" cy="2239920"/>
          </a:xfrm>
          <a:prstGeom prst="roundRect">
            <a:avLst>
              <a:gd name="adj" fmla="val 4898"/>
            </a:avLst>
          </a:prstGeom>
          <a:solidFill>
            <a:schemeClr val="lt1">
              <a:alpha val="10000"/>
            </a:schemeClr>
          </a:solidFill>
          <a:ln w="0">
            <a:noFill/>
          </a:ln>
        </p:spPr>
        <p:style>
          <a:lnRef idx="0"/>
          <a:fillRef idx="0"/>
          <a:effectRef idx="0"/>
          <a:fontRef idx="minor"/>
        </p:style>
        <p:txBody>
          <a:bodyPr lIns="90000" tIns="45000" rIns="90000" bIns="45000" anchor="t">
            <a:noAutofit/>
          </a:bodyPr>
          <a:p>
            <a:endParaRPr lang="pt-PT" sz="1800" b="0" u="none" strike="noStrike">
              <a:solidFill>
                <a:srgbClr val="000000"/>
              </a:solidFill>
              <a:effectLst/>
              <a:uFillTx/>
              <a:latin typeface="Arial"/>
            </a:endParaRPr>
          </a:p>
        </p:txBody>
      </p:sp>
      <p:sp>
        <p:nvSpPr>
          <p:cNvPr id="146" name="What I learned label"/>
          <p:cNvSpPr/>
          <p:nvPr/>
        </p:nvSpPr>
        <p:spPr>
          <a:xfrm>
            <a:off x="8412480" y="1645920"/>
            <a:ext cx="30171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201" strike="noStrike">
                <a:solidFill>
                  <a:schemeClr val="accent1"/>
                </a:solidFill>
                <a:effectLst/>
                <a:uFillTx/>
                <a:latin typeface="Calibri"/>
              </a:rPr>
              <a:t>WHAT I LEARNED</a:t>
            </a:r>
            <a:endParaRPr lang="pt-PT" sz="1200" b="0" u="none" strike="noStrike">
              <a:solidFill>
                <a:srgbClr val="FFFFFF"/>
              </a:solidFill>
              <a:effectLst/>
              <a:uFillTx/>
              <a:latin typeface="Arial"/>
            </a:endParaRPr>
          </a:p>
        </p:txBody>
      </p:sp>
      <p:sp>
        <p:nvSpPr>
          <p:cNvPr id="147" name="What I learned text"/>
          <p:cNvSpPr/>
          <p:nvPr/>
        </p:nvSpPr>
        <p:spPr>
          <a:xfrm>
            <a:off x="8412480" y="2057400"/>
            <a:ext cx="2971440" cy="1828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lt1"/>
                </a:solidFill>
                <a:effectLst/>
                <a:uFillTx/>
                <a:latin typeface="Calibri"/>
              </a:rPr>
              <a:t>Letting the prototype drive the data model, and validating at every layer to keep errors clear and data consistent.</a:t>
            </a:r>
            <a:endParaRPr lang="pt-PT" sz="1600" b="0" u="none" strike="noStrike">
              <a:solidFill>
                <a:srgbClr val="FFFFFF"/>
              </a:solidFill>
              <a:effectLst/>
              <a:uFillTx/>
              <a:latin typeface="Arial"/>
            </a:endParaRPr>
          </a:p>
        </p:txBody>
      </p:sp>
      <p:sp>
        <p:nvSpPr>
          <p:cNvPr id="148" name="Closing line"/>
          <p:cNvSpPr/>
          <p:nvPr/>
        </p:nvSpPr>
        <p:spPr>
          <a:xfrm>
            <a:off x="548640" y="4297680"/>
            <a:ext cx="11091240" cy="1005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800" b="1" u="none" strike="noStrike">
                <a:solidFill>
                  <a:schemeClr val="lt1"/>
                </a:solidFill>
                <a:effectLst/>
                <a:uFillTx/>
                <a:latin typeface="Calibri"/>
              </a:rPr>
              <a:t>Thank you — </a:t>
            </a:r>
            <a:r>
              <a:rPr lang="en-US" sz="4800" b="1" u="none" strike="noStrike">
                <a:solidFill>
                  <a:schemeClr val="accent1"/>
                </a:solidFill>
                <a:effectLst/>
                <a:uFillTx/>
                <a:latin typeface="Calibri"/>
              </a:rPr>
              <a:t>Questions?</a:t>
            </a:r>
            <a:endParaRPr lang="pt-PT" sz="4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Calculate Profit">
  <a:themeElements>
    <a:clrScheme name="Calculate Profit">
      <a:dk1>
        <a:srgbClr val="1B2733"/>
      </a:dk1>
      <a:lt1>
        <a:srgbClr val="FFFFFF"/>
      </a:lt1>
      <a:dk2>
        <a:srgbClr val="0E3A6B"/>
      </a:dk2>
      <a:lt2>
        <a:srgbClr val="F1F4F8"/>
      </a:lt2>
      <a:accent1>
        <a:srgbClr val="FFCC00"/>
      </a:accent1>
      <a:accent2>
        <a:srgbClr val="2E7D5B"/>
      </a:accent2>
      <a:accent3>
        <a:srgbClr val="B5483B"/>
      </a:accent3>
      <a:accent4>
        <a:srgbClr val="5E4B8B"/>
      </a:accent4>
      <a:accent5>
        <a:srgbClr val="2F5D8C"/>
      </a:accent5>
      <a:accent6>
        <a:srgbClr val="5B6B7B"/>
      </a:accent6>
      <a:hlink>
        <a:srgbClr val="2F5D8C"/>
      </a:hlink>
      <a:folHlink>
        <a:srgbClr val="5E4B8B"/>
      </a:folHlink>
    </a:clrScheme>
    <a:fontScheme name="Calculate Profit">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LibreOffice/26.2.1.2$Windows_X86_64 LibreOffice_project/620$Build-2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2026-10-21T16:22:58Z</dcterms:created>
  <dc:creator>Francisco Conceição</dc:creator>
  <dc:description/>
  <dc:language>pt-PT</dc:language>
  <cp:lastModifiedBy/>
  <dcterms:modified xsi:type="dcterms:W3CDTF">2026-10-21T17:25:26Z</dcterms:modified>
  <cp:revision>2</cp:revision>
  <dc:subject>PptxGenJS Presentation</dc:subject>
  <dc:title>Calculate Profit — Technical exercise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10</vt:i4>
  </property>
  <property fmtid="{D5CDD505-2E9C-101B-9397-08002B2CF9AE}" pid="3" name="PresentationFormat">
    <vt:lpwstr>On-screen Show (16:9)</vt:lpwstr>
  </property>
  <property fmtid="{D5CDD505-2E9C-101B-9397-08002B2CF9AE}" pid="4" name="Slides">
    <vt:i4>10</vt:i4>
  </property>
</Properties>
</file>